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56" r:id="rId5"/>
    <p:sldId id="257" r:id="rId6"/>
    <p:sldId id="258" r:id="rId7"/>
    <p:sldId id="259" r:id="rId8"/>
    <p:sldId id="274" r:id="rId9"/>
    <p:sldId id="262" r:id="rId10"/>
    <p:sldId id="265" r:id="rId11"/>
    <p:sldId id="268" r:id="rId12"/>
    <p:sldId id="269" r:id="rId13"/>
    <p:sldId id="270" r:id="rId14"/>
    <p:sldId id="275" r:id="rId15"/>
    <p:sldId id="272" r:id="rId16"/>
    <p:sldId id="271" r:id="rId17"/>
    <p:sldId id="27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FD1A7"/>
    <a:srgbClr val="EFE8D3"/>
    <a:srgbClr val="782F40"/>
    <a:srgbClr val="5729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BD9C2B-97F3-7248-B786-2A8F408F1567}" v="528" dt="2025-12-05T13:47:27.534"/>
    <p1510:client id="{55FBF55C-CBFD-4333-8079-6C429FA7D769}" v="1" dt="2025-12-05T13:07:23.505"/>
    <p1510:client id="{98635C26-BFFA-EC91-9D4F-1BB3D807922C}" v="3262" dt="2025-12-04T17:23:35.333"/>
    <p1510:client id="{F614D75F-14BC-2B9F-BCCA-08B8D6DAA7C2}" v="143" dt="2025-12-05T13:07:06.5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6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1_Title Slid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5F5CF-7563-910E-C780-7C168339C070}"/>
              </a:ext>
            </a:extLst>
          </p:cNvPr>
          <p:cNvSpPr>
            <a:spLocks noGrp="1"/>
          </p:cNvSpPr>
          <p:nvPr>
            <p:ph type="ctrTitle"/>
          </p:nvPr>
        </p:nvSpPr>
        <p:spPr>
          <a:xfrm>
            <a:off x="5369169" y="1122363"/>
            <a:ext cx="6435970" cy="2387600"/>
          </a:xfrm>
        </p:spPr>
        <p:txBody>
          <a:bodyPr anchor="b"/>
          <a:lstStyle>
            <a:lvl1pPr algn="l">
              <a:defRPr sz="6000">
                <a:solidFill>
                  <a:schemeClr val="bg1"/>
                </a:solidFill>
                <a:latin typeface="+mj-lt"/>
                <a:cs typeface="Times New Roman" panose="02020603050405020304" pitchFamily="18" charset="0"/>
              </a:defRPr>
            </a:lvl1pPr>
          </a:lstStyle>
          <a:p>
            <a:r>
              <a:rPr lang="en-US"/>
              <a:t>Click to edit Master title style</a:t>
            </a:r>
          </a:p>
        </p:txBody>
      </p:sp>
      <p:sp>
        <p:nvSpPr>
          <p:cNvPr id="3" name="Subtitle 2">
            <a:extLst>
              <a:ext uri="{FF2B5EF4-FFF2-40B4-BE49-F238E27FC236}">
                <a16:creationId xmlns:a16="http://schemas.microsoft.com/office/drawing/2014/main" id="{735612E9-1D7E-C187-3DC5-A7EF5451C6EE}"/>
              </a:ext>
            </a:extLst>
          </p:cNvPr>
          <p:cNvSpPr>
            <a:spLocks noGrp="1"/>
          </p:cNvSpPr>
          <p:nvPr>
            <p:ph type="subTitle" idx="1"/>
          </p:nvPr>
        </p:nvSpPr>
        <p:spPr>
          <a:xfrm>
            <a:off x="509479" y="3989942"/>
            <a:ext cx="11173042" cy="1086150"/>
          </a:xfrm>
        </p:spPr>
        <p:txBody>
          <a:bodyPr>
            <a:normAutofit/>
          </a:bodyPr>
          <a:lstStyle>
            <a:lvl1pPr marL="0" indent="0" algn="ctr">
              <a:buNone/>
              <a:defRPr sz="28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5" name="Picture 4">
            <a:extLst>
              <a:ext uri="{FF2B5EF4-FFF2-40B4-BE49-F238E27FC236}">
                <a16:creationId xmlns:a16="http://schemas.microsoft.com/office/drawing/2014/main" id="{686958BE-999F-7265-40E9-A5240BE1CF8D}"/>
              </a:ext>
            </a:extLst>
          </p:cNvPr>
          <p:cNvPicPr>
            <a:picLocks noChangeAspect="1"/>
          </p:cNvPicPr>
          <p:nvPr userDrawn="1"/>
        </p:nvPicPr>
        <p:blipFill>
          <a:blip r:embed="rId2"/>
          <a:srcRect/>
          <a:stretch/>
        </p:blipFill>
        <p:spPr>
          <a:xfrm>
            <a:off x="103645" y="929266"/>
            <a:ext cx="5693863" cy="3409498"/>
          </a:xfrm>
          <a:prstGeom prst="rect">
            <a:avLst/>
          </a:prstGeom>
        </p:spPr>
      </p:pic>
      <p:sp>
        <p:nvSpPr>
          <p:cNvPr id="7" name="Rectangle 6">
            <a:extLst>
              <a:ext uri="{FF2B5EF4-FFF2-40B4-BE49-F238E27FC236}">
                <a16:creationId xmlns:a16="http://schemas.microsoft.com/office/drawing/2014/main" id="{8A544B2E-8699-8C40-9CEE-8DF77282B273}"/>
              </a:ext>
            </a:extLst>
          </p:cNvPr>
          <p:cNvSpPr/>
          <p:nvPr userDrawn="1"/>
        </p:nvSpPr>
        <p:spPr>
          <a:xfrm>
            <a:off x="304800" y="304800"/>
            <a:ext cx="11582400" cy="6248400"/>
          </a:xfrm>
          <a:prstGeom prst="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7886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5F5CF-7563-910E-C780-7C168339C070}"/>
              </a:ext>
            </a:extLst>
          </p:cNvPr>
          <p:cNvSpPr>
            <a:spLocks noGrp="1"/>
          </p:cNvSpPr>
          <p:nvPr>
            <p:ph type="ctrTitle"/>
          </p:nvPr>
        </p:nvSpPr>
        <p:spPr>
          <a:xfrm>
            <a:off x="584887" y="1122363"/>
            <a:ext cx="11022226" cy="2387600"/>
          </a:xfrm>
        </p:spPr>
        <p:txBody>
          <a:bodyPr anchor="b"/>
          <a:lstStyle>
            <a:lvl1pPr algn="ctr">
              <a:defRPr sz="6000">
                <a:solidFill>
                  <a:schemeClr val="bg1"/>
                </a:solidFill>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Subtitle 2">
            <a:extLst>
              <a:ext uri="{FF2B5EF4-FFF2-40B4-BE49-F238E27FC236}">
                <a16:creationId xmlns:a16="http://schemas.microsoft.com/office/drawing/2014/main" id="{735612E9-1D7E-C187-3DC5-A7EF5451C6EE}"/>
              </a:ext>
            </a:extLst>
          </p:cNvPr>
          <p:cNvSpPr>
            <a:spLocks noGrp="1"/>
          </p:cNvSpPr>
          <p:nvPr>
            <p:ph type="subTitle" idx="1"/>
          </p:nvPr>
        </p:nvSpPr>
        <p:spPr>
          <a:xfrm>
            <a:off x="1524000" y="3821392"/>
            <a:ext cx="9144000" cy="1102300"/>
          </a:xfrm>
        </p:spPr>
        <p:txBody>
          <a:bodyPr/>
          <a:lstStyle>
            <a:lvl1pPr marL="0" indent="0" algn="ctr">
              <a:buNone/>
              <a:defRPr sz="24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AD87F3-13C9-F97D-679A-047289A8BDDF}"/>
              </a:ext>
            </a:extLst>
          </p:cNvPr>
          <p:cNvSpPr>
            <a:spLocks noGrp="1"/>
          </p:cNvSpPr>
          <p:nvPr>
            <p:ph type="dt" sz="half" idx="10"/>
          </p:nvPr>
        </p:nvSpPr>
        <p:spPr/>
        <p:txBody>
          <a:bodyPr/>
          <a:lstStyle/>
          <a:p>
            <a:fld id="{3AB34FB6-96E0-E94F-98AA-54332C31E3E2}" type="datetimeFigureOut">
              <a:rPr lang="en-US" smtClean="0"/>
              <a:t>12/23/2025</a:t>
            </a:fld>
            <a:endParaRPr lang="en-US"/>
          </a:p>
        </p:txBody>
      </p:sp>
      <p:sp>
        <p:nvSpPr>
          <p:cNvPr id="6" name="Slide Number Placeholder 5">
            <a:extLst>
              <a:ext uri="{FF2B5EF4-FFF2-40B4-BE49-F238E27FC236}">
                <a16:creationId xmlns:a16="http://schemas.microsoft.com/office/drawing/2014/main" id="{08255B78-8660-7977-A527-B43BB02EAF7D}"/>
              </a:ext>
            </a:extLst>
          </p:cNvPr>
          <p:cNvSpPr>
            <a:spLocks noGrp="1"/>
          </p:cNvSpPr>
          <p:nvPr>
            <p:ph type="sldNum" sz="quarter" idx="12"/>
          </p:nvPr>
        </p:nvSpPr>
        <p:spPr/>
        <p:txBody>
          <a:bodyPr/>
          <a:lstStyle/>
          <a:p>
            <a:fld id="{00C646E2-5701-E245-9F49-1F595AFFA2FE}" type="slidenum">
              <a:rPr lang="en-US" smtClean="0"/>
              <a:t>‹#›</a:t>
            </a:fld>
            <a:endParaRPr lang="en-US"/>
          </a:p>
        </p:txBody>
      </p:sp>
      <p:pic>
        <p:nvPicPr>
          <p:cNvPr id="8" name="Picture 7">
            <a:extLst>
              <a:ext uri="{FF2B5EF4-FFF2-40B4-BE49-F238E27FC236}">
                <a16:creationId xmlns:a16="http://schemas.microsoft.com/office/drawing/2014/main" id="{84389171-B04B-0ECD-A41B-B497CF95CE03}"/>
              </a:ext>
            </a:extLst>
          </p:cNvPr>
          <p:cNvPicPr>
            <a:picLocks noChangeAspect="1"/>
          </p:cNvPicPr>
          <p:nvPr userDrawn="1"/>
        </p:nvPicPr>
        <p:blipFill>
          <a:blip r:embed="rId2"/>
          <a:srcRect/>
          <a:stretch/>
        </p:blipFill>
        <p:spPr>
          <a:xfrm>
            <a:off x="4318262" y="5955356"/>
            <a:ext cx="3555476" cy="801987"/>
          </a:xfrm>
          <a:prstGeom prst="rect">
            <a:avLst/>
          </a:prstGeom>
        </p:spPr>
      </p:pic>
    </p:spTree>
    <p:extLst>
      <p:ext uri="{BB962C8B-B14F-4D97-AF65-F5344CB8AC3E}">
        <p14:creationId xmlns:p14="http://schemas.microsoft.com/office/powerpoint/2010/main" val="16826292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2_Title Slid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5F5CF-7563-910E-C780-7C168339C070}"/>
              </a:ext>
            </a:extLst>
          </p:cNvPr>
          <p:cNvSpPr>
            <a:spLocks noGrp="1"/>
          </p:cNvSpPr>
          <p:nvPr>
            <p:ph type="ctrTitle"/>
          </p:nvPr>
        </p:nvSpPr>
        <p:spPr>
          <a:xfrm>
            <a:off x="1239716" y="3155682"/>
            <a:ext cx="9712569" cy="1615201"/>
          </a:xfrm>
        </p:spPr>
        <p:txBody>
          <a:bodyPr anchor="b"/>
          <a:lstStyle>
            <a:lvl1pPr algn="ctr">
              <a:defRPr sz="6000">
                <a:solidFill>
                  <a:schemeClr val="bg1"/>
                </a:solidFill>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Subtitle 2">
            <a:extLst>
              <a:ext uri="{FF2B5EF4-FFF2-40B4-BE49-F238E27FC236}">
                <a16:creationId xmlns:a16="http://schemas.microsoft.com/office/drawing/2014/main" id="{735612E9-1D7E-C187-3DC5-A7EF5451C6EE}"/>
              </a:ext>
            </a:extLst>
          </p:cNvPr>
          <p:cNvSpPr>
            <a:spLocks noGrp="1"/>
          </p:cNvSpPr>
          <p:nvPr>
            <p:ph type="subTitle" idx="1"/>
          </p:nvPr>
        </p:nvSpPr>
        <p:spPr>
          <a:xfrm>
            <a:off x="1239716" y="4886897"/>
            <a:ext cx="9712568" cy="1044979"/>
          </a:xfrm>
        </p:spPr>
        <p:txBody>
          <a:bodyPr/>
          <a:lstStyle>
            <a:lvl1pPr marL="0" indent="0" algn="ctr">
              <a:buNone/>
              <a:defRPr sz="24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5" name="Picture 4">
            <a:extLst>
              <a:ext uri="{FF2B5EF4-FFF2-40B4-BE49-F238E27FC236}">
                <a16:creationId xmlns:a16="http://schemas.microsoft.com/office/drawing/2014/main" id="{686958BE-999F-7265-40E9-A5240BE1CF8D}"/>
              </a:ext>
            </a:extLst>
          </p:cNvPr>
          <p:cNvPicPr>
            <a:picLocks noChangeAspect="1"/>
          </p:cNvPicPr>
          <p:nvPr userDrawn="1"/>
        </p:nvPicPr>
        <p:blipFill>
          <a:blip r:embed="rId2"/>
          <a:srcRect/>
          <a:stretch/>
        </p:blipFill>
        <p:spPr>
          <a:xfrm>
            <a:off x="4180026" y="601160"/>
            <a:ext cx="3831948" cy="2294579"/>
          </a:xfrm>
          <a:prstGeom prst="rect">
            <a:avLst/>
          </a:prstGeom>
        </p:spPr>
      </p:pic>
      <p:sp>
        <p:nvSpPr>
          <p:cNvPr id="7" name="Rectangle 6">
            <a:extLst>
              <a:ext uri="{FF2B5EF4-FFF2-40B4-BE49-F238E27FC236}">
                <a16:creationId xmlns:a16="http://schemas.microsoft.com/office/drawing/2014/main" id="{6A7A3D07-BFCC-B067-1A26-38A5C1EC8CEA}"/>
              </a:ext>
            </a:extLst>
          </p:cNvPr>
          <p:cNvSpPr/>
          <p:nvPr userDrawn="1"/>
        </p:nvSpPr>
        <p:spPr>
          <a:xfrm>
            <a:off x="304800" y="304800"/>
            <a:ext cx="11582400" cy="6248400"/>
          </a:xfrm>
          <a:prstGeom prst="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710227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B4CA4-1BDB-D2FB-E9F6-6566E18DCD38}"/>
              </a:ext>
            </a:extLst>
          </p:cNvPr>
          <p:cNvSpPr>
            <a:spLocks noGrp="1"/>
          </p:cNvSpPr>
          <p:nvPr>
            <p:ph type="title"/>
          </p:nvPr>
        </p:nvSpPr>
        <p:spPr>
          <a:xfrm>
            <a:off x="838200" y="407773"/>
            <a:ext cx="10515600" cy="1011066"/>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C2F35409-C4CD-90F4-F6FD-D3818451965C}"/>
              </a:ext>
            </a:extLst>
          </p:cNvPr>
          <p:cNvSpPr>
            <a:spLocks noGrp="1"/>
          </p:cNvSpPr>
          <p:nvPr>
            <p:ph idx="1"/>
          </p:nvPr>
        </p:nvSpPr>
        <p:spPr>
          <a:xfrm>
            <a:off x="838200" y="1717590"/>
            <a:ext cx="10515600" cy="41875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7AAF2A-F252-85D7-B59A-AC065740DD36}"/>
              </a:ext>
            </a:extLst>
          </p:cNvPr>
          <p:cNvSpPr>
            <a:spLocks noGrp="1"/>
          </p:cNvSpPr>
          <p:nvPr>
            <p:ph type="dt" sz="half" idx="10"/>
          </p:nvPr>
        </p:nvSpPr>
        <p:spPr>
          <a:xfrm>
            <a:off x="838200" y="6367192"/>
            <a:ext cx="2743200" cy="490808"/>
          </a:xfrm>
        </p:spPr>
        <p:txBody>
          <a:bodyPr/>
          <a:lstStyle>
            <a:lvl1pPr>
              <a:defRPr>
                <a:solidFill>
                  <a:schemeClr val="accent2"/>
                </a:solidFill>
              </a:defRPr>
            </a:lvl1pPr>
          </a:lstStyle>
          <a:p>
            <a:fld id="{3AB34FB6-96E0-E94F-98AA-54332C31E3E2}" type="datetimeFigureOut">
              <a:rPr lang="en-US" smtClean="0"/>
              <a:pPr/>
              <a:t>12/23/2025</a:t>
            </a:fld>
            <a:endParaRPr lang="en-US"/>
          </a:p>
        </p:txBody>
      </p:sp>
      <p:sp>
        <p:nvSpPr>
          <p:cNvPr id="6" name="Slide Number Placeholder 5">
            <a:extLst>
              <a:ext uri="{FF2B5EF4-FFF2-40B4-BE49-F238E27FC236}">
                <a16:creationId xmlns:a16="http://schemas.microsoft.com/office/drawing/2014/main" id="{AA26550C-9433-24E4-3EAD-30A81EC25415}"/>
              </a:ext>
            </a:extLst>
          </p:cNvPr>
          <p:cNvSpPr>
            <a:spLocks noGrp="1"/>
          </p:cNvSpPr>
          <p:nvPr>
            <p:ph type="sldNum" sz="quarter" idx="12"/>
          </p:nvPr>
        </p:nvSpPr>
        <p:spPr>
          <a:xfrm>
            <a:off x="8610600" y="6367192"/>
            <a:ext cx="2743200" cy="490808"/>
          </a:xfrm>
        </p:spPr>
        <p:txBody>
          <a:bodyPr/>
          <a:lstStyle>
            <a:lvl1pPr>
              <a:defRPr>
                <a:solidFill>
                  <a:schemeClr val="accent2"/>
                </a:solidFill>
              </a:defRPr>
            </a:lvl1pPr>
          </a:lstStyle>
          <a:p>
            <a:fld id="{00C646E2-5701-E245-9F49-1F595AFFA2FE}" type="slidenum">
              <a:rPr lang="en-US" smtClean="0"/>
              <a:pPr/>
              <a:t>‹#›</a:t>
            </a:fld>
            <a:endParaRPr lang="en-US"/>
          </a:p>
        </p:txBody>
      </p:sp>
    </p:spTree>
    <p:extLst>
      <p:ext uri="{BB962C8B-B14F-4D97-AF65-F5344CB8AC3E}">
        <p14:creationId xmlns:p14="http://schemas.microsoft.com/office/powerpoint/2010/main" val="19265402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880B4-DA72-8AD7-D5F8-C1BC286E93E8}"/>
              </a:ext>
            </a:extLst>
          </p:cNvPr>
          <p:cNvSpPr>
            <a:spLocks noGrp="1"/>
          </p:cNvSpPr>
          <p:nvPr>
            <p:ph type="title"/>
          </p:nvPr>
        </p:nvSpPr>
        <p:spPr>
          <a:xfrm>
            <a:off x="831850" y="1709738"/>
            <a:ext cx="10515600" cy="2852737"/>
          </a:xfrm>
        </p:spPr>
        <p:txBody>
          <a:bodyPr anchor="b"/>
          <a:lstStyle>
            <a:lvl1pPr>
              <a:defRPr sz="6000">
                <a:solidFill>
                  <a:schemeClr val="bg2"/>
                </a:solidFill>
              </a:defRPr>
            </a:lvl1pPr>
          </a:lstStyle>
          <a:p>
            <a:r>
              <a:rPr lang="en-US"/>
              <a:t>Click to edit Master title style</a:t>
            </a:r>
          </a:p>
        </p:txBody>
      </p:sp>
      <p:sp>
        <p:nvSpPr>
          <p:cNvPr id="3" name="Text Placeholder 2">
            <a:extLst>
              <a:ext uri="{FF2B5EF4-FFF2-40B4-BE49-F238E27FC236}">
                <a16:creationId xmlns:a16="http://schemas.microsoft.com/office/drawing/2014/main" id="{AFA2637E-8094-255C-CEBE-7776CDF656C7}"/>
              </a:ext>
            </a:extLst>
          </p:cNvPr>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ED5793-4EBF-1BB5-2B3F-E9C4CC7E79EB}"/>
              </a:ext>
            </a:extLst>
          </p:cNvPr>
          <p:cNvSpPr>
            <a:spLocks noGrp="1"/>
          </p:cNvSpPr>
          <p:nvPr>
            <p:ph type="dt" sz="half" idx="10"/>
          </p:nvPr>
        </p:nvSpPr>
        <p:spPr>
          <a:xfrm>
            <a:off x="838200" y="6448811"/>
            <a:ext cx="2743200" cy="365125"/>
          </a:xfrm>
        </p:spPr>
        <p:txBody>
          <a:bodyPr/>
          <a:lstStyle>
            <a:lvl1pPr>
              <a:defRPr>
                <a:solidFill>
                  <a:schemeClr val="bg2"/>
                </a:solidFill>
              </a:defRPr>
            </a:lvl1pPr>
          </a:lstStyle>
          <a:p>
            <a:fld id="{3AB34FB6-96E0-E94F-98AA-54332C31E3E2}" type="datetimeFigureOut">
              <a:rPr lang="en-US" smtClean="0"/>
              <a:pPr/>
              <a:t>12/23/2025</a:t>
            </a:fld>
            <a:endParaRPr lang="en-US"/>
          </a:p>
        </p:txBody>
      </p:sp>
      <p:sp>
        <p:nvSpPr>
          <p:cNvPr id="6" name="Slide Number Placeholder 5">
            <a:extLst>
              <a:ext uri="{FF2B5EF4-FFF2-40B4-BE49-F238E27FC236}">
                <a16:creationId xmlns:a16="http://schemas.microsoft.com/office/drawing/2014/main" id="{70023F44-6423-5214-29F9-1564FE9BE2F8}"/>
              </a:ext>
            </a:extLst>
          </p:cNvPr>
          <p:cNvSpPr>
            <a:spLocks noGrp="1"/>
          </p:cNvSpPr>
          <p:nvPr>
            <p:ph type="sldNum" sz="quarter" idx="12"/>
          </p:nvPr>
        </p:nvSpPr>
        <p:spPr>
          <a:xfrm>
            <a:off x="8610600" y="6448811"/>
            <a:ext cx="2743200" cy="365125"/>
          </a:xfrm>
        </p:spPr>
        <p:txBody>
          <a:bodyPr/>
          <a:lstStyle>
            <a:lvl1pPr>
              <a:defRPr>
                <a:solidFill>
                  <a:schemeClr val="bg2"/>
                </a:solidFill>
              </a:defRPr>
            </a:lvl1pPr>
          </a:lstStyle>
          <a:p>
            <a:fld id="{00C646E2-5701-E245-9F49-1F595AFFA2FE}" type="slidenum">
              <a:rPr lang="en-US" smtClean="0"/>
              <a:pPr/>
              <a:t>‹#›</a:t>
            </a:fld>
            <a:endParaRPr lang="en-US"/>
          </a:p>
        </p:txBody>
      </p:sp>
      <p:sp>
        <p:nvSpPr>
          <p:cNvPr id="8" name="TextBox 7">
            <a:extLst>
              <a:ext uri="{FF2B5EF4-FFF2-40B4-BE49-F238E27FC236}">
                <a16:creationId xmlns:a16="http://schemas.microsoft.com/office/drawing/2014/main" id="{87B8CE90-6158-6721-6A83-1930F91FD763}"/>
              </a:ext>
            </a:extLst>
          </p:cNvPr>
          <p:cNvSpPr txBox="1"/>
          <p:nvPr userDrawn="1"/>
        </p:nvSpPr>
        <p:spPr>
          <a:xfrm>
            <a:off x="4487562" y="6448811"/>
            <a:ext cx="3216875" cy="307777"/>
          </a:xfrm>
          <a:prstGeom prst="rect">
            <a:avLst/>
          </a:prstGeom>
          <a:noFill/>
        </p:spPr>
        <p:txBody>
          <a:bodyPr wrap="square" rtlCol="0">
            <a:spAutoFit/>
          </a:bodyPr>
          <a:lstStyle/>
          <a:p>
            <a:pPr algn="ctr"/>
            <a:r>
              <a:rPr lang="en-US" sz="1400" b="0" i="0" spc="0">
                <a:solidFill>
                  <a:schemeClr val="bg2"/>
                </a:solidFill>
                <a:latin typeface="+mn-lt"/>
                <a:ea typeface="Open Sans Light" pitchFamily="2" charset="0"/>
                <a:cs typeface="Open Sans Light" pitchFamily="2" charset="0"/>
              </a:rPr>
              <a:t>FLORIDA STATE UNIVERSITY</a:t>
            </a:r>
          </a:p>
        </p:txBody>
      </p:sp>
      <p:pic>
        <p:nvPicPr>
          <p:cNvPr id="10" name="Picture 9">
            <a:extLst>
              <a:ext uri="{FF2B5EF4-FFF2-40B4-BE49-F238E27FC236}">
                <a16:creationId xmlns:a16="http://schemas.microsoft.com/office/drawing/2014/main" id="{727F293E-B2D2-6E98-BD99-0C2BBBF9E5FE}"/>
              </a:ext>
            </a:extLst>
          </p:cNvPr>
          <p:cNvPicPr>
            <a:picLocks noChangeAspect="1"/>
          </p:cNvPicPr>
          <p:nvPr userDrawn="1"/>
        </p:nvPicPr>
        <p:blipFill>
          <a:blip r:embed="rId2"/>
          <a:srcRect/>
          <a:stretch/>
        </p:blipFill>
        <p:spPr>
          <a:xfrm>
            <a:off x="11041277" y="110880"/>
            <a:ext cx="1123950" cy="673023"/>
          </a:xfrm>
          <a:prstGeom prst="rect">
            <a:avLst/>
          </a:prstGeom>
        </p:spPr>
      </p:pic>
    </p:spTree>
    <p:extLst>
      <p:ext uri="{BB962C8B-B14F-4D97-AF65-F5344CB8AC3E}">
        <p14:creationId xmlns:p14="http://schemas.microsoft.com/office/powerpoint/2010/main" val="2948090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AE62A-D4A1-12DB-FEC1-3819C3DD60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AFDB61-7333-5D50-B5C0-688DFCF8349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940B5E-3E52-C4B9-9898-43CCDA94B2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B6B8290-B12E-D7AE-B4CE-6AD080C2F941}"/>
              </a:ext>
            </a:extLst>
          </p:cNvPr>
          <p:cNvSpPr>
            <a:spLocks noGrp="1"/>
          </p:cNvSpPr>
          <p:nvPr>
            <p:ph type="dt" sz="half" idx="10"/>
          </p:nvPr>
        </p:nvSpPr>
        <p:spPr/>
        <p:txBody>
          <a:bodyPr/>
          <a:lstStyle/>
          <a:p>
            <a:fld id="{3AB34FB6-96E0-E94F-98AA-54332C31E3E2}" type="datetimeFigureOut">
              <a:rPr lang="en-US" smtClean="0"/>
              <a:t>12/23/2025</a:t>
            </a:fld>
            <a:endParaRPr lang="en-US"/>
          </a:p>
        </p:txBody>
      </p:sp>
      <p:sp>
        <p:nvSpPr>
          <p:cNvPr id="7" name="Slide Number Placeholder 6">
            <a:extLst>
              <a:ext uri="{FF2B5EF4-FFF2-40B4-BE49-F238E27FC236}">
                <a16:creationId xmlns:a16="http://schemas.microsoft.com/office/drawing/2014/main" id="{CD2C5EE9-E76D-B076-3220-D99665773EED}"/>
              </a:ext>
            </a:extLst>
          </p:cNvPr>
          <p:cNvSpPr>
            <a:spLocks noGrp="1"/>
          </p:cNvSpPr>
          <p:nvPr>
            <p:ph type="sldNum" sz="quarter" idx="12"/>
          </p:nvPr>
        </p:nvSpPr>
        <p:spPr/>
        <p:txBody>
          <a:bodyPr/>
          <a:lstStyle/>
          <a:p>
            <a:fld id="{00C646E2-5701-E245-9F49-1F595AFFA2FE}" type="slidenum">
              <a:rPr lang="en-US" smtClean="0"/>
              <a:t>‹#›</a:t>
            </a:fld>
            <a:endParaRPr lang="en-US"/>
          </a:p>
        </p:txBody>
      </p:sp>
    </p:spTree>
    <p:extLst>
      <p:ext uri="{BB962C8B-B14F-4D97-AF65-F5344CB8AC3E}">
        <p14:creationId xmlns:p14="http://schemas.microsoft.com/office/powerpoint/2010/main" val="612024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448D9-6A0B-D164-B8E3-2D97680AE50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A57717C-8D84-604E-FB53-FAA257C014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B00931-DDF4-74B4-7482-676148ED4B4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D5CAB2-B6AC-6647-DF64-D642E5901C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7362DAE-67EA-6C69-E4D3-B0EA580430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B8A9263-131B-40FF-E9B4-EC7D49481A2D}"/>
              </a:ext>
            </a:extLst>
          </p:cNvPr>
          <p:cNvSpPr>
            <a:spLocks noGrp="1"/>
          </p:cNvSpPr>
          <p:nvPr>
            <p:ph type="dt" sz="half" idx="10"/>
          </p:nvPr>
        </p:nvSpPr>
        <p:spPr/>
        <p:txBody>
          <a:bodyPr/>
          <a:lstStyle/>
          <a:p>
            <a:fld id="{3AB34FB6-96E0-E94F-98AA-54332C31E3E2}" type="datetimeFigureOut">
              <a:rPr lang="en-US" smtClean="0"/>
              <a:t>12/23/2025</a:t>
            </a:fld>
            <a:endParaRPr lang="en-US"/>
          </a:p>
        </p:txBody>
      </p:sp>
      <p:sp>
        <p:nvSpPr>
          <p:cNvPr id="9" name="Slide Number Placeholder 8">
            <a:extLst>
              <a:ext uri="{FF2B5EF4-FFF2-40B4-BE49-F238E27FC236}">
                <a16:creationId xmlns:a16="http://schemas.microsoft.com/office/drawing/2014/main" id="{88424AB0-E725-AA9C-815A-6667122E06CF}"/>
              </a:ext>
            </a:extLst>
          </p:cNvPr>
          <p:cNvSpPr>
            <a:spLocks noGrp="1"/>
          </p:cNvSpPr>
          <p:nvPr>
            <p:ph type="sldNum" sz="quarter" idx="12"/>
          </p:nvPr>
        </p:nvSpPr>
        <p:spPr/>
        <p:txBody>
          <a:bodyPr/>
          <a:lstStyle/>
          <a:p>
            <a:fld id="{00C646E2-5701-E245-9F49-1F595AFFA2FE}" type="slidenum">
              <a:rPr lang="en-US" smtClean="0"/>
              <a:t>‹#›</a:t>
            </a:fld>
            <a:endParaRPr lang="en-US"/>
          </a:p>
        </p:txBody>
      </p:sp>
    </p:spTree>
    <p:extLst>
      <p:ext uri="{BB962C8B-B14F-4D97-AF65-F5344CB8AC3E}">
        <p14:creationId xmlns:p14="http://schemas.microsoft.com/office/powerpoint/2010/main" val="3727546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32159-26DE-7E09-2A91-62B668AF8EE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CF45FF-8322-1D1F-71EE-C7DA4139FF40}"/>
              </a:ext>
            </a:extLst>
          </p:cNvPr>
          <p:cNvSpPr>
            <a:spLocks noGrp="1"/>
          </p:cNvSpPr>
          <p:nvPr>
            <p:ph type="dt" sz="half" idx="10"/>
          </p:nvPr>
        </p:nvSpPr>
        <p:spPr/>
        <p:txBody>
          <a:bodyPr/>
          <a:lstStyle/>
          <a:p>
            <a:fld id="{3AB34FB6-96E0-E94F-98AA-54332C31E3E2}" type="datetimeFigureOut">
              <a:rPr lang="en-US" smtClean="0"/>
              <a:t>12/23/2025</a:t>
            </a:fld>
            <a:endParaRPr lang="en-US"/>
          </a:p>
        </p:txBody>
      </p:sp>
      <p:sp>
        <p:nvSpPr>
          <p:cNvPr id="5" name="Slide Number Placeholder 4">
            <a:extLst>
              <a:ext uri="{FF2B5EF4-FFF2-40B4-BE49-F238E27FC236}">
                <a16:creationId xmlns:a16="http://schemas.microsoft.com/office/drawing/2014/main" id="{051347C8-C8DC-7727-063C-207D80FFE245}"/>
              </a:ext>
            </a:extLst>
          </p:cNvPr>
          <p:cNvSpPr>
            <a:spLocks noGrp="1"/>
          </p:cNvSpPr>
          <p:nvPr>
            <p:ph type="sldNum" sz="quarter" idx="12"/>
          </p:nvPr>
        </p:nvSpPr>
        <p:spPr/>
        <p:txBody>
          <a:bodyPr/>
          <a:lstStyle/>
          <a:p>
            <a:fld id="{00C646E2-5701-E245-9F49-1F595AFFA2FE}" type="slidenum">
              <a:rPr lang="en-US" smtClean="0"/>
              <a:t>‹#›</a:t>
            </a:fld>
            <a:endParaRPr lang="en-US"/>
          </a:p>
        </p:txBody>
      </p:sp>
    </p:spTree>
    <p:extLst>
      <p:ext uri="{BB962C8B-B14F-4D97-AF65-F5344CB8AC3E}">
        <p14:creationId xmlns:p14="http://schemas.microsoft.com/office/powerpoint/2010/main" val="2546223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F308FF-9CEF-9E71-F5F8-4339D02237A9}"/>
              </a:ext>
            </a:extLst>
          </p:cNvPr>
          <p:cNvSpPr>
            <a:spLocks noGrp="1"/>
          </p:cNvSpPr>
          <p:nvPr>
            <p:ph type="dt" sz="half" idx="10"/>
          </p:nvPr>
        </p:nvSpPr>
        <p:spPr/>
        <p:txBody>
          <a:bodyPr/>
          <a:lstStyle/>
          <a:p>
            <a:fld id="{3AB34FB6-96E0-E94F-98AA-54332C31E3E2}" type="datetimeFigureOut">
              <a:rPr lang="en-US" smtClean="0"/>
              <a:t>12/23/2025</a:t>
            </a:fld>
            <a:endParaRPr lang="en-US"/>
          </a:p>
        </p:txBody>
      </p:sp>
      <p:sp>
        <p:nvSpPr>
          <p:cNvPr id="4" name="Slide Number Placeholder 3">
            <a:extLst>
              <a:ext uri="{FF2B5EF4-FFF2-40B4-BE49-F238E27FC236}">
                <a16:creationId xmlns:a16="http://schemas.microsoft.com/office/drawing/2014/main" id="{9FAEB8CB-6197-F5EC-FBD0-1D15310ADE34}"/>
              </a:ext>
            </a:extLst>
          </p:cNvPr>
          <p:cNvSpPr>
            <a:spLocks noGrp="1"/>
          </p:cNvSpPr>
          <p:nvPr>
            <p:ph type="sldNum" sz="quarter" idx="12"/>
          </p:nvPr>
        </p:nvSpPr>
        <p:spPr/>
        <p:txBody>
          <a:bodyPr/>
          <a:lstStyle/>
          <a:p>
            <a:fld id="{00C646E2-5701-E245-9F49-1F595AFFA2FE}" type="slidenum">
              <a:rPr lang="en-US" smtClean="0"/>
              <a:t>‹#›</a:t>
            </a:fld>
            <a:endParaRPr lang="en-US"/>
          </a:p>
        </p:txBody>
      </p:sp>
    </p:spTree>
    <p:extLst>
      <p:ext uri="{BB962C8B-B14F-4D97-AF65-F5344CB8AC3E}">
        <p14:creationId xmlns:p14="http://schemas.microsoft.com/office/powerpoint/2010/main" val="1182673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FB93E-0165-7922-39CB-8403F57F61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C4EA9D9-C4B7-4E5A-8BF1-AEF50543E7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F8A843D-7418-D612-5FF8-37BC1250EC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D8C526-2423-FE08-908F-D1CC625B0FA7}"/>
              </a:ext>
            </a:extLst>
          </p:cNvPr>
          <p:cNvSpPr>
            <a:spLocks noGrp="1"/>
          </p:cNvSpPr>
          <p:nvPr>
            <p:ph type="dt" sz="half" idx="10"/>
          </p:nvPr>
        </p:nvSpPr>
        <p:spPr/>
        <p:txBody>
          <a:bodyPr/>
          <a:lstStyle/>
          <a:p>
            <a:fld id="{3AB34FB6-96E0-E94F-98AA-54332C31E3E2}" type="datetimeFigureOut">
              <a:rPr lang="en-US" smtClean="0"/>
              <a:t>12/23/2025</a:t>
            </a:fld>
            <a:endParaRPr lang="en-US"/>
          </a:p>
        </p:txBody>
      </p:sp>
      <p:sp>
        <p:nvSpPr>
          <p:cNvPr id="7" name="Slide Number Placeholder 6">
            <a:extLst>
              <a:ext uri="{FF2B5EF4-FFF2-40B4-BE49-F238E27FC236}">
                <a16:creationId xmlns:a16="http://schemas.microsoft.com/office/drawing/2014/main" id="{366B452B-B2E3-6970-E135-544F8D1E158E}"/>
              </a:ext>
            </a:extLst>
          </p:cNvPr>
          <p:cNvSpPr>
            <a:spLocks noGrp="1"/>
          </p:cNvSpPr>
          <p:nvPr>
            <p:ph type="sldNum" sz="quarter" idx="12"/>
          </p:nvPr>
        </p:nvSpPr>
        <p:spPr/>
        <p:txBody>
          <a:bodyPr/>
          <a:lstStyle/>
          <a:p>
            <a:fld id="{00C646E2-5701-E245-9F49-1F595AFFA2FE}" type="slidenum">
              <a:rPr lang="en-US" smtClean="0"/>
              <a:t>‹#›</a:t>
            </a:fld>
            <a:endParaRPr lang="en-US"/>
          </a:p>
        </p:txBody>
      </p:sp>
    </p:spTree>
    <p:extLst>
      <p:ext uri="{BB962C8B-B14F-4D97-AF65-F5344CB8AC3E}">
        <p14:creationId xmlns:p14="http://schemas.microsoft.com/office/powerpoint/2010/main" val="605084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C7E10-773A-0FFD-96F5-E4B1534C28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810511-A094-CDF5-22AD-008F576DEA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4BB847DB-CB00-6B46-18BA-61354D20EA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2565E6-501E-A950-9109-73B7D4DEC2F3}"/>
              </a:ext>
            </a:extLst>
          </p:cNvPr>
          <p:cNvSpPr>
            <a:spLocks noGrp="1"/>
          </p:cNvSpPr>
          <p:nvPr>
            <p:ph type="dt" sz="half" idx="10"/>
          </p:nvPr>
        </p:nvSpPr>
        <p:spPr/>
        <p:txBody>
          <a:bodyPr/>
          <a:lstStyle/>
          <a:p>
            <a:fld id="{3AB34FB6-96E0-E94F-98AA-54332C31E3E2}" type="datetimeFigureOut">
              <a:rPr lang="en-US" smtClean="0"/>
              <a:t>12/23/2025</a:t>
            </a:fld>
            <a:endParaRPr lang="en-US"/>
          </a:p>
        </p:txBody>
      </p:sp>
      <p:sp>
        <p:nvSpPr>
          <p:cNvPr id="7" name="Slide Number Placeholder 6">
            <a:extLst>
              <a:ext uri="{FF2B5EF4-FFF2-40B4-BE49-F238E27FC236}">
                <a16:creationId xmlns:a16="http://schemas.microsoft.com/office/drawing/2014/main" id="{65AC4804-95CB-A5EC-7436-0327C8E40312}"/>
              </a:ext>
            </a:extLst>
          </p:cNvPr>
          <p:cNvSpPr>
            <a:spLocks noGrp="1"/>
          </p:cNvSpPr>
          <p:nvPr>
            <p:ph type="sldNum" sz="quarter" idx="12"/>
          </p:nvPr>
        </p:nvSpPr>
        <p:spPr/>
        <p:txBody>
          <a:bodyPr/>
          <a:lstStyle/>
          <a:p>
            <a:fld id="{00C646E2-5701-E245-9F49-1F595AFFA2FE}" type="slidenum">
              <a:rPr lang="en-US" smtClean="0"/>
              <a:t>‹#›</a:t>
            </a:fld>
            <a:endParaRPr lang="en-US"/>
          </a:p>
        </p:txBody>
      </p:sp>
    </p:spTree>
    <p:extLst>
      <p:ext uri="{BB962C8B-B14F-4D97-AF65-F5344CB8AC3E}">
        <p14:creationId xmlns:p14="http://schemas.microsoft.com/office/powerpoint/2010/main" val="30004160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611A7-5CAB-A0A8-9ADF-47EA99151B7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98EB790-385C-75D8-F148-5AB1825EE73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A3F9ED-109C-E7E4-FC65-C4B45DDFECBB}"/>
              </a:ext>
            </a:extLst>
          </p:cNvPr>
          <p:cNvSpPr>
            <a:spLocks noGrp="1"/>
          </p:cNvSpPr>
          <p:nvPr>
            <p:ph type="dt" sz="half" idx="10"/>
          </p:nvPr>
        </p:nvSpPr>
        <p:spPr/>
        <p:txBody>
          <a:bodyPr/>
          <a:lstStyle/>
          <a:p>
            <a:fld id="{3AB34FB6-96E0-E94F-98AA-54332C31E3E2}" type="datetimeFigureOut">
              <a:rPr lang="en-US" smtClean="0"/>
              <a:t>12/23/2025</a:t>
            </a:fld>
            <a:endParaRPr lang="en-US"/>
          </a:p>
        </p:txBody>
      </p:sp>
      <p:sp>
        <p:nvSpPr>
          <p:cNvPr id="6" name="Slide Number Placeholder 5">
            <a:extLst>
              <a:ext uri="{FF2B5EF4-FFF2-40B4-BE49-F238E27FC236}">
                <a16:creationId xmlns:a16="http://schemas.microsoft.com/office/drawing/2014/main" id="{00D966A9-97E3-4E20-D3F5-19EB07AB96F8}"/>
              </a:ext>
            </a:extLst>
          </p:cNvPr>
          <p:cNvSpPr>
            <a:spLocks noGrp="1"/>
          </p:cNvSpPr>
          <p:nvPr>
            <p:ph type="sldNum" sz="quarter" idx="12"/>
          </p:nvPr>
        </p:nvSpPr>
        <p:spPr/>
        <p:txBody>
          <a:bodyPr/>
          <a:lstStyle/>
          <a:p>
            <a:fld id="{00C646E2-5701-E245-9F49-1F595AFFA2FE}" type="slidenum">
              <a:rPr lang="en-US" smtClean="0"/>
              <a:t>‹#›</a:t>
            </a:fld>
            <a:endParaRPr lang="en-US"/>
          </a:p>
        </p:txBody>
      </p:sp>
    </p:spTree>
    <p:extLst>
      <p:ext uri="{BB962C8B-B14F-4D97-AF65-F5344CB8AC3E}">
        <p14:creationId xmlns:p14="http://schemas.microsoft.com/office/powerpoint/2010/main" val="18932191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7E530E-A39E-4B7F-27F3-A1DED943E6B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F4815FF-D0F2-4CED-8659-42739ACF6A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984235-F59F-1C05-743D-753E4B2CE06B}"/>
              </a:ext>
            </a:extLst>
          </p:cNvPr>
          <p:cNvSpPr>
            <a:spLocks noGrp="1"/>
          </p:cNvSpPr>
          <p:nvPr>
            <p:ph type="dt" sz="half" idx="10"/>
          </p:nvPr>
        </p:nvSpPr>
        <p:spPr/>
        <p:txBody>
          <a:bodyPr/>
          <a:lstStyle/>
          <a:p>
            <a:fld id="{3AB34FB6-96E0-E94F-98AA-54332C31E3E2}" type="datetimeFigureOut">
              <a:rPr lang="en-US" smtClean="0"/>
              <a:t>12/23/2025</a:t>
            </a:fld>
            <a:endParaRPr lang="en-US"/>
          </a:p>
        </p:txBody>
      </p:sp>
      <p:sp>
        <p:nvSpPr>
          <p:cNvPr id="6" name="Slide Number Placeholder 5">
            <a:extLst>
              <a:ext uri="{FF2B5EF4-FFF2-40B4-BE49-F238E27FC236}">
                <a16:creationId xmlns:a16="http://schemas.microsoft.com/office/drawing/2014/main" id="{1FC61F74-418A-3F5C-3E9E-5A26EB282DDD}"/>
              </a:ext>
            </a:extLst>
          </p:cNvPr>
          <p:cNvSpPr>
            <a:spLocks noGrp="1"/>
          </p:cNvSpPr>
          <p:nvPr>
            <p:ph type="sldNum" sz="quarter" idx="12"/>
          </p:nvPr>
        </p:nvSpPr>
        <p:spPr/>
        <p:txBody>
          <a:bodyPr/>
          <a:lstStyle/>
          <a:p>
            <a:fld id="{00C646E2-5701-E245-9F49-1F595AFFA2FE}" type="slidenum">
              <a:rPr lang="en-US" smtClean="0"/>
              <a:t>‹#›</a:t>
            </a:fld>
            <a:endParaRPr lang="en-US"/>
          </a:p>
        </p:txBody>
      </p:sp>
    </p:spTree>
    <p:extLst>
      <p:ext uri="{BB962C8B-B14F-4D97-AF65-F5344CB8AC3E}">
        <p14:creationId xmlns:p14="http://schemas.microsoft.com/office/powerpoint/2010/main" val="15249184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AC931FD-487B-FB4F-9663-6F1B47FCF50B}"/>
              </a:ext>
            </a:extLst>
          </p:cNvPr>
          <p:cNvSpPr/>
          <p:nvPr userDrawn="1"/>
        </p:nvSpPr>
        <p:spPr>
          <a:xfrm>
            <a:off x="0" y="6359525"/>
            <a:ext cx="12192000" cy="49847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84AF466-845F-25C1-2F42-A39E88937987}"/>
              </a:ext>
            </a:extLst>
          </p:cNvPr>
          <p:cNvSpPr txBox="1"/>
          <p:nvPr userDrawn="1"/>
        </p:nvSpPr>
        <p:spPr>
          <a:xfrm>
            <a:off x="4487562" y="6448811"/>
            <a:ext cx="3216875" cy="307777"/>
          </a:xfrm>
          <a:prstGeom prst="rect">
            <a:avLst/>
          </a:prstGeom>
          <a:noFill/>
        </p:spPr>
        <p:txBody>
          <a:bodyPr wrap="square" rtlCol="0">
            <a:spAutoFit/>
          </a:bodyPr>
          <a:lstStyle/>
          <a:p>
            <a:pPr algn="ctr"/>
            <a:r>
              <a:rPr lang="en-US" sz="1400" b="0" i="0" spc="0">
                <a:solidFill>
                  <a:schemeClr val="accent2"/>
                </a:solidFill>
                <a:latin typeface="+mn-lt"/>
                <a:ea typeface="Open Sans Light" pitchFamily="2" charset="0"/>
                <a:cs typeface="Open Sans Light" pitchFamily="2" charset="0"/>
              </a:rPr>
              <a:t>FLORIDA STATE UNIVERSITY</a:t>
            </a:r>
          </a:p>
        </p:txBody>
      </p:sp>
      <p:pic>
        <p:nvPicPr>
          <p:cNvPr id="9" name="Picture 8" descr="A close up of a logo&#10;&#10;Description automatically generated">
            <a:extLst>
              <a:ext uri="{FF2B5EF4-FFF2-40B4-BE49-F238E27FC236}">
                <a16:creationId xmlns:a16="http://schemas.microsoft.com/office/drawing/2014/main" id="{3854FDEB-39C7-AC12-C5D7-0072E4657FEE}"/>
              </a:ext>
            </a:extLst>
          </p:cNvPr>
          <p:cNvPicPr>
            <a:picLocks noChangeAspect="1"/>
          </p:cNvPicPr>
          <p:nvPr userDrawn="1"/>
        </p:nvPicPr>
        <p:blipFill>
          <a:blip r:embed="rId15"/>
          <a:stretch>
            <a:fillRect/>
          </a:stretch>
        </p:blipFill>
        <p:spPr>
          <a:xfrm>
            <a:off x="11041277" y="109022"/>
            <a:ext cx="1123950" cy="673024"/>
          </a:xfrm>
          <a:prstGeom prst="rect">
            <a:avLst/>
          </a:prstGeom>
        </p:spPr>
      </p:pic>
      <p:sp>
        <p:nvSpPr>
          <p:cNvPr id="2" name="Title Placeholder 1">
            <a:extLst>
              <a:ext uri="{FF2B5EF4-FFF2-40B4-BE49-F238E27FC236}">
                <a16:creationId xmlns:a16="http://schemas.microsoft.com/office/drawing/2014/main" id="{2253CF2F-ADD4-6F9A-E59D-0434131054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FFB9F1B-2C71-3B4E-A91B-8504AACA06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FED1D6-CC84-B500-5E9B-CA793480A9D2}"/>
              </a:ext>
            </a:extLst>
          </p:cNvPr>
          <p:cNvSpPr>
            <a:spLocks noGrp="1"/>
          </p:cNvSpPr>
          <p:nvPr>
            <p:ph type="dt" sz="half" idx="2"/>
          </p:nvPr>
        </p:nvSpPr>
        <p:spPr>
          <a:xfrm>
            <a:off x="838200" y="6448811"/>
            <a:ext cx="2743200" cy="365125"/>
          </a:xfrm>
          <a:prstGeom prst="rect">
            <a:avLst/>
          </a:prstGeom>
        </p:spPr>
        <p:txBody>
          <a:bodyPr vert="horz" lIns="91440" tIns="45720" rIns="91440" bIns="45720" rtlCol="0" anchor="ctr"/>
          <a:lstStyle>
            <a:lvl1pPr algn="l">
              <a:defRPr sz="1200">
                <a:solidFill>
                  <a:schemeClr val="accent2"/>
                </a:solidFill>
              </a:defRPr>
            </a:lvl1pPr>
          </a:lstStyle>
          <a:p>
            <a:fld id="{3AB34FB6-96E0-E94F-98AA-54332C31E3E2}" type="datetimeFigureOut">
              <a:rPr lang="en-US" smtClean="0"/>
              <a:pPr/>
              <a:t>12/23/2025</a:t>
            </a:fld>
            <a:endParaRPr lang="en-US"/>
          </a:p>
        </p:txBody>
      </p:sp>
      <p:sp>
        <p:nvSpPr>
          <p:cNvPr id="6" name="Slide Number Placeholder 5">
            <a:extLst>
              <a:ext uri="{FF2B5EF4-FFF2-40B4-BE49-F238E27FC236}">
                <a16:creationId xmlns:a16="http://schemas.microsoft.com/office/drawing/2014/main" id="{62C0A297-EF75-F329-75D5-059F83F2B227}"/>
              </a:ext>
            </a:extLst>
          </p:cNvPr>
          <p:cNvSpPr>
            <a:spLocks noGrp="1"/>
          </p:cNvSpPr>
          <p:nvPr>
            <p:ph type="sldNum" sz="quarter" idx="4"/>
          </p:nvPr>
        </p:nvSpPr>
        <p:spPr>
          <a:xfrm>
            <a:off x="8610600" y="6448811"/>
            <a:ext cx="2743200" cy="365125"/>
          </a:xfrm>
          <a:prstGeom prst="rect">
            <a:avLst/>
          </a:prstGeom>
        </p:spPr>
        <p:txBody>
          <a:bodyPr vert="horz" lIns="91440" tIns="45720" rIns="91440" bIns="45720" rtlCol="0" anchor="ctr"/>
          <a:lstStyle>
            <a:lvl1pPr algn="r">
              <a:defRPr sz="1200">
                <a:solidFill>
                  <a:schemeClr val="accent2"/>
                </a:solidFill>
              </a:defRPr>
            </a:lvl1pPr>
          </a:lstStyle>
          <a:p>
            <a:fld id="{00C646E2-5701-E245-9F49-1F595AFFA2FE}" type="slidenum">
              <a:rPr lang="en-US" smtClean="0"/>
              <a:pPr/>
              <a:t>‹#›</a:t>
            </a:fld>
            <a:endParaRPr lang="en-US"/>
          </a:p>
        </p:txBody>
      </p:sp>
    </p:spTree>
    <p:extLst>
      <p:ext uri="{BB962C8B-B14F-4D97-AF65-F5344CB8AC3E}">
        <p14:creationId xmlns:p14="http://schemas.microsoft.com/office/powerpoint/2010/main" val="4208351128"/>
      </p:ext>
    </p:extLst>
  </p:cSld>
  <p:clrMap bg1="dk1" tx1="lt1" bg2="dk2" tx2="lt2" accent1="accent1" accent2="accent2" accent3="accent3" accent4="accent4" accent5="accent5" accent6="accent6" hlink="hlink" folHlink="folHlink"/>
  <p:sldLayoutIdLst>
    <p:sldLayoutId id="2147483672" r:id="rId1"/>
    <p:sldLayoutId id="2147483661" r:id="rId2"/>
    <p:sldLayoutId id="2147483673"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txStyles>
    <p:titleStyle>
      <a:lvl1pPr algn="l" defTabSz="914400" rtl="0" eaLnBrk="1" latinLnBrk="0" hangingPunct="1">
        <a:lnSpc>
          <a:spcPct val="90000"/>
        </a:lnSpc>
        <a:spcBef>
          <a:spcPct val="0"/>
        </a:spcBef>
        <a:buNone/>
        <a:defRPr sz="4400" kern="1200">
          <a:solidFill>
            <a:schemeClr val="bg2"/>
          </a:solidFill>
          <a:latin typeface="+mj-lt"/>
          <a:ea typeface="+mj-ea"/>
          <a:cs typeface="Times New Roman" panose="02020603050405020304" pitchFamily="18"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hyperlink" Target="https://www.kaggle.com/datasets/prince7489/ai-vs-human-comparison-dataset?resource=download" TargetMode="Externa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10.xml"/><Relationship Id="rId5" Type="http://schemas.openxmlformats.org/officeDocument/2006/relationships/image" Target="../media/image6.emf"/><Relationship Id="rId4" Type="http://schemas.openxmlformats.org/officeDocument/2006/relationships/image" Target="../media/image5.emf"/></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emf"/><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hyperlink" Target="https://www.kaggle.com/datasets/prince7489/ai-vs-human-comparison-dataset?resource=download" TargetMode="Externa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07244-BA2B-01FB-9833-CC44337832CB}"/>
              </a:ext>
            </a:extLst>
          </p:cNvPr>
          <p:cNvSpPr>
            <a:spLocks noGrp="1"/>
          </p:cNvSpPr>
          <p:nvPr>
            <p:ph type="ctrTitle"/>
          </p:nvPr>
        </p:nvSpPr>
        <p:spPr>
          <a:xfrm>
            <a:off x="584887" y="1041400"/>
            <a:ext cx="11022226" cy="2387600"/>
          </a:xfrm>
        </p:spPr>
        <p:txBody>
          <a:bodyPr/>
          <a:lstStyle/>
          <a:p>
            <a:r>
              <a:rPr lang="en-US"/>
              <a:t>Project C: </a:t>
            </a:r>
            <a:br>
              <a:rPr lang="en-US"/>
            </a:br>
            <a:r>
              <a:rPr lang="en-US"/>
              <a:t>AI vs. Human Writing Comparison</a:t>
            </a:r>
          </a:p>
        </p:txBody>
      </p:sp>
      <p:sp>
        <p:nvSpPr>
          <p:cNvPr id="3" name="Subtitle 2">
            <a:extLst>
              <a:ext uri="{FF2B5EF4-FFF2-40B4-BE49-F238E27FC236}">
                <a16:creationId xmlns:a16="http://schemas.microsoft.com/office/drawing/2014/main" id="{4115F2A2-3AA3-93BC-39DD-820B2D5662F1}"/>
              </a:ext>
            </a:extLst>
          </p:cNvPr>
          <p:cNvSpPr>
            <a:spLocks noGrp="1"/>
          </p:cNvSpPr>
          <p:nvPr>
            <p:ph type="subTitle" idx="1"/>
          </p:nvPr>
        </p:nvSpPr>
        <p:spPr>
          <a:xfrm>
            <a:off x="1594022" y="3821392"/>
            <a:ext cx="9144000" cy="879562"/>
          </a:xfrm>
        </p:spPr>
        <p:txBody>
          <a:bodyPr vert="horz" lIns="91440" tIns="45720" rIns="91440" bIns="45720" rtlCol="0" anchor="t">
            <a:normAutofit/>
          </a:bodyPr>
          <a:lstStyle/>
          <a:p>
            <a:r>
              <a:rPr lang="en-US">
                <a:latin typeface="Times New Roman"/>
                <a:cs typeface="Times New Roman"/>
              </a:rPr>
              <a:t>Michelle Steinberger, Allison Krueger, Aidan Belmont, Jill </a:t>
            </a:r>
            <a:r>
              <a:rPr lang="en-US" err="1">
                <a:latin typeface="Times New Roman"/>
                <a:cs typeface="Times New Roman"/>
              </a:rPr>
              <a:t>Derodel</a:t>
            </a:r>
            <a:endParaRPr lang="en-US">
              <a:latin typeface="Times New Roman"/>
              <a:cs typeface="Times New Roman"/>
            </a:endParaRPr>
          </a:p>
          <a:p>
            <a:r>
              <a:rPr lang="en-US">
                <a:latin typeface="Times New Roman"/>
                <a:cs typeface="Times New Roman"/>
              </a:rPr>
              <a:t>December 5</a:t>
            </a:r>
            <a:r>
              <a:rPr lang="en-US" baseline="30000">
                <a:latin typeface="Times New Roman"/>
                <a:cs typeface="Times New Roman"/>
              </a:rPr>
              <a:t>th</a:t>
            </a:r>
            <a:r>
              <a:rPr lang="en-US">
                <a:latin typeface="Times New Roman"/>
                <a:cs typeface="Times New Roman"/>
              </a:rPr>
              <a:t>, 2025</a:t>
            </a:r>
          </a:p>
        </p:txBody>
      </p:sp>
    </p:spTree>
    <p:extLst>
      <p:ext uri="{BB962C8B-B14F-4D97-AF65-F5344CB8AC3E}">
        <p14:creationId xmlns:p14="http://schemas.microsoft.com/office/powerpoint/2010/main" val="26046603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784BD-E891-8F83-848D-B3163274FFBD}"/>
              </a:ext>
            </a:extLst>
          </p:cNvPr>
          <p:cNvSpPr>
            <a:spLocks noGrp="1"/>
          </p:cNvSpPr>
          <p:nvPr>
            <p:ph type="title"/>
          </p:nvPr>
        </p:nvSpPr>
        <p:spPr/>
        <p:txBody>
          <a:bodyPr/>
          <a:lstStyle/>
          <a:p>
            <a:r>
              <a:rPr lang="en-US"/>
              <a:t>Motivation</a:t>
            </a:r>
          </a:p>
        </p:txBody>
      </p:sp>
      <p:sp>
        <p:nvSpPr>
          <p:cNvPr id="3" name="Content Placeholder 2">
            <a:extLst>
              <a:ext uri="{FF2B5EF4-FFF2-40B4-BE49-F238E27FC236}">
                <a16:creationId xmlns:a16="http://schemas.microsoft.com/office/drawing/2014/main" id="{CA523C10-A1CA-5A70-82DF-D4E640468CCC}"/>
              </a:ext>
            </a:extLst>
          </p:cNvPr>
          <p:cNvSpPr>
            <a:spLocks noGrp="1"/>
          </p:cNvSpPr>
          <p:nvPr>
            <p:ph idx="1"/>
          </p:nvPr>
        </p:nvSpPr>
        <p:spPr/>
        <p:txBody>
          <a:bodyPr>
            <a:normAutofit/>
          </a:bodyPr>
          <a:lstStyle/>
          <a:p>
            <a:pPr marL="0" indent="0">
              <a:lnSpc>
                <a:spcPct val="150000"/>
              </a:lnSpc>
              <a:buNone/>
            </a:pPr>
            <a:r>
              <a:rPr lang="en-US" sz="2000"/>
              <a:t>We chose to study the difference between AI writing and human writing. With AI being integrated in almost every aspect of our lives, it is no surprised that there is now AI writing. This brings up the question on if AI writing significantly differs from human writing. </a:t>
            </a:r>
          </a:p>
          <a:p>
            <a:pPr marL="0" indent="0">
              <a:lnSpc>
                <a:spcPct val="150000"/>
              </a:lnSpc>
              <a:buNone/>
            </a:pPr>
            <a:r>
              <a:rPr lang="en-US" sz="2000"/>
              <a:t>This topic is very interesting to us as AI is being integrated with education which we are all encountering daily. By fitting a logistic regression model, we are able to compare AI writing to human writing and see if it is similar or different based on several different factors. </a:t>
            </a:r>
          </a:p>
        </p:txBody>
      </p:sp>
    </p:spTree>
    <p:extLst>
      <p:ext uri="{BB962C8B-B14F-4D97-AF65-F5344CB8AC3E}">
        <p14:creationId xmlns:p14="http://schemas.microsoft.com/office/powerpoint/2010/main" val="25357605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C7370-7C82-B073-781B-2AB018716C16}"/>
              </a:ext>
            </a:extLst>
          </p:cNvPr>
          <p:cNvSpPr>
            <a:spLocks noGrp="1"/>
          </p:cNvSpPr>
          <p:nvPr>
            <p:ph type="title"/>
          </p:nvPr>
        </p:nvSpPr>
        <p:spPr/>
        <p:txBody>
          <a:bodyPr/>
          <a:lstStyle/>
          <a:p>
            <a:r>
              <a:rPr lang="en-US"/>
              <a:t>Data Description</a:t>
            </a:r>
          </a:p>
        </p:txBody>
      </p:sp>
      <p:sp>
        <p:nvSpPr>
          <p:cNvPr id="3" name="Content Placeholder 2">
            <a:extLst>
              <a:ext uri="{FF2B5EF4-FFF2-40B4-BE49-F238E27FC236}">
                <a16:creationId xmlns:a16="http://schemas.microsoft.com/office/drawing/2014/main" id="{9944002F-2D50-AE3C-7CE3-033D89D13359}"/>
              </a:ext>
            </a:extLst>
          </p:cNvPr>
          <p:cNvSpPr>
            <a:spLocks noGrp="1"/>
          </p:cNvSpPr>
          <p:nvPr>
            <p:ph idx="1"/>
          </p:nvPr>
        </p:nvSpPr>
        <p:spPr/>
        <p:txBody>
          <a:bodyPr vert="horz" lIns="91440" tIns="45720" rIns="91440" bIns="45720" rtlCol="0" anchor="t">
            <a:normAutofit/>
          </a:bodyPr>
          <a:lstStyle/>
          <a:p>
            <a:pPr marL="0" indent="0">
              <a:lnSpc>
                <a:spcPct val="150000"/>
              </a:lnSpc>
              <a:buNone/>
            </a:pPr>
            <a:r>
              <a:rPr lang="en-US" sz="2000">
                <a:latin typeface="Times New Roman"/>
                <a:cs typeface="Times New Roman"/>
              </a:rPr>
              <a:t>The data was found using an online website that took a random samples of 250 AI written text as well as 250 human written texts. There is a total of </a:t>
            </a:r>
            <a:r>
              <a:rPr lang="en-US" sz="2000" b="1">
                <a:latin typeface="Times New Roman"/>
                <a:cs typeface="Times New Roman"/>
              </a:rPr>
              <a:t>500 observations. </a:t>
            </a:r>
            <a:r>
              <a:rPr lang="en-US" sz="2000">
                <a:latin typeface="Times New Roman"/>
                <a:cs typeface="Times New Roman"/>
              </a:rPr>
              <a:t>The variables used to compare the works are </a:t>
            </a:r>
            <a:r>
              <a:rPr lang="en-US" sz="2000" b="1">
                <a:latin typeface="Times New Roman"/>
                <a:cs typeface="Times New Roman"/>
              </a:rPr>
              <a:t>structure, sentiment, style, and linguistic complexity</a:t>
            </a:r>
            <a:r>
              <a:rPr lang="en-US" sz="2000">
                <a:latin typeface="Times New Roman"/>
                <a:cs typeface="Times New Roman"/>
              </a:rPr>
              <a:t>. Thes variables can be found in both the AI texts and the human written texts and will be the basis for the logarithmic evaluation. </a:t>
            </a:r>
            <a:endParaRPr lang="en-US" sz="2000" b="1">
              <a:latin typeface="Times New Roman"/>
              <a:cs typeface="Times New Roman"/>
            </a:endParaRPr>
          </a:p>
          <a:p>
            <a:pPr marL="0" indent="0">
              <a:lnSpc>
                <a:spcPct val="150000"/>
              </a:lnSpc>
              <a:buNone/>
            </a:pPr>
            <a:endParaRPr lang="en-US" sz="2000"/>
          </a:p>
          <a:p>
            <a:pPr marL="0" indent="0">
              <a:lnSpc>
                <a:spcPct val="150000"/>
              </a:lnSpc>
              <a:buNone/>
            </a:pPr>
            <a:r>
              <a:rPr lang="en-US" sz="2000"/>
              <a:t>Here is the link to where we got the data for this project: </a:t>
            </a:r>
          </a:p>
          <a:p>
            <a:pPr marL="0" indent="0">
              <a:lnSpc>
                <a:spcPct val="150000"/>
              </a:lnSpc>
              <a:buNone/>
            </a:pPr>
            <a:r>
              <a:rPr lang="en-US" sz="2000"/>
              <a:t>Rajak, P. (2025, December 1). </a:t>
            </a:r>
            <a:r>
              <a:rPr lang="en-US" sz="2000" i="1"/>
              <a:t>Ai Vs Human Comparison Dataset</a:t>
            </a:r>
            <a:r>
              <a:rPr lang="en-US" sz="2000"/>
              <a:t>. Kaggle. </a:t>
            </a:r>
            <a:r>
              <a:rPr lang="en-US" sz="2000">
                <a:hlinkClick r:id="rId2"/>
              </a:rPr>
              <a:t>https://www.kaggle.com/datasets/prince7489/ai-vs-human-comparison-dataset?resource=download</a:t>
            </a:r>
            <a:r>
              <a:rPr lang="en-US" sz="2000"/>
              <a:t> </a:t>
            </a:r>
          </a:p>
          <a:p>
            <a:pPr marL="0" indent="0">
              <a:buNone/>
            </a:pPr>
            <a:endParaRPr lang="en-US" sz="2000"/>
          </a:p>
          <a:p>
            <a:pPr marL="0" indent="0">
              <a:buNone/>
            </a:pPr>
            <a:endParaRPr lang="en-US" sz="2000"/>
          </a:p>
        </p:txBody>
      </p:sp>
    </p:spTree>
    <p:extLst>
      <p:ext uri="{BB962C8B-B14F-4D97-AF65-F5344CB8AC3E}">
        <p14:creationId xmlns:p14="http://schemas.microsoft.com/office/powerpoint/2010/main" val="2274610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4C11C-44EA-4BA9-EF19-C44EE4278BEC}"/>
              </a:ext>
            </a:extLst>
          </p:cNvPr>
          <p:cNvSpPr>
            <a:spLocks noGrp="1"/>
          </p:cNvSpPr>
          <p:nvPr>
            <p:ph type="title"/>
          </p:nvPr>
        </p:nvSpPr>
        <p:spPr>
          <a:xfrm>
            <a:off x="839787" y="953434"/>
            <a:ext cx="3932237" cy="653922"/>
          </a:xfrm>
        </p:spPr>
        <p:txBody>
          <a:bodyPr/>
          <a:lstStyle/>
          <a:p>
            <a:r>
              <a:rPr lang="en-US"/>
              <a:t>Data Exploration</a:t>
            </a:r>
          </a:p>
        </p:txBody>
      </p:sp>
      <p:pic>
        <p:nvPicPr>
          <p:cNvPr id="13" name="Content Placeholder 12">
            <a:extLst>
              <a:ext uri="{FF2B5EF4-FFF2-40B4-BE49-F238E27FC236}">
                <a16:creationId xmlns:a16="http://schemas.microsoft.com/office/drawing/2014/main" id="{857E8F1D-F29A-AB3B-DEB8-B4A912A0D40B}"/>
              </a:ext>
            </a:extLst>
          </p:cNvPr>
          <p:cNvPicPr>
            <a:picLocks noGrp="1" noChangeAspect="1"/>
          </p:cNvPicPr>
          <p:nvPr>
            <p:ph idx="1"/>
          </p:nvPr>
        </p:nvPicPr>
        <p:blipFill>
          <a:blip r:embed="rId2"/>
          <a:stretch>
            <a:fillRect/>
          </a:stretch>
        </p:blipFill>
        <p:spPr>
          <a:xfrm>
            <a:off x="5180011" y="574043"/>
            <a:ext cx="6172200" cy="1033313"/>
          </a:xfrm>
        </p:spPr>
      </p:pic>
      <p:sp>
        <p:nvSpPr>
          <p:cNvPr id="18" name="Text Placeholder 17">
            <a:extLst>
              <a:ext uri="{FF2B5EF4-FFF2-40B4-BE49-F238E27FC236}">
                <a16:creationId xmlns:a16="http://schemas.microsoft.com/office/drawing/2014/main" id="{9E546B97-26FB-719E-8B50-6D50CB37BB47}"/>
              </a:ext>
            </a:extLst>
          </p:cNvPr>
          <p:cNvSpPr>
            <a:spLocks noGrp="1"/>
          </p:cNvSpPr>
          <p:nvPr>
            <p:ph type="body" sz="half" idx="2"/>
          </p:nvPr>
        </p:nvSpPr>
        <p:spPr>
          <a:xfrm>
            <a:off x="839788" y="1796527"/>
            <a:ext cx="3932237" cy="4299473"/>
          </a:xfrm>
        </p:spPr>
        <p:txBody>
          <a:bodyPr vert="horz" lIns="91440" tIns="45720" rIns="91440" bIns="45720" rtlCol="0" anchor="t">
            <a:normAutofit lnSpcReduction="10000"/>
          </a:bodyPr>
          <a:lstStyle/>
          <a:p>
            <a:r>
              <a:rPr lang="en-US" sz="1800">
                <a:latin typeface="Times New Roman"/>
                <a:cs typeface="Times New Roman"/>
              </a:rPr>
              <a:t>First, we made a new data set that makes a 0/1 binary variable. A human data point is counted as 1, and AI is counted as  0. This made it so that all the data is numeric instead of a mix of categorical and numeric</a:t>
            </a:r>
          </a:p>
          <a:p>
            <a:r>
              <a:rPr lang="en-US" sz="1800">
                <a:latin typeface="Times New Roman"/>
                <a:cs typeface="Times New Roman"/>
              </a:rPr>
              <a:t>In the </a:t>
            </a:r>
            <a:r>
              <a:rPr lang="en-US" sz="1800" err="1">
                <a:latin typeface="Times New Roman"/>
                <a:cs typeface="Times New Roman"/>
              </a:rPr>
              <a:t>sgscatter</a:t>
            </a:r>
            <a:r>
              <a:rPr lang="en-US" sz="1800">
                <a:latin typeface="Times New Roman"/>
                <a:cs typeface="Times New Roman"/>
              </a:rPr>
              <a:t> output, we can see several promising predictors. Two of the ones that appear to have a slightly "s" shaped plot are plagiarism score and length chars. Additionally, quality score has a slightly negative looking relationship.</a:t>
            </a:r>
          </a:p>
          <a:p>
            <a:r>
              <a:rPr lang="en-US" sz="1800">
                <a:latin typeface="Times New Roman"/>
                <a:cs typeface="Times New Roman"/>
              </a:rPr>
              <a:t>The most promising looking variable appears to be plagiarism score, so we went forward with that for the single variable analysis.</a:t>
            </a:r>
          </a:p>
          <a:p>
            <a:endParaRPr lang="en-US"/>
          </a:p>
        </p:txBody>
      </p:sp>
      <p:pic>
        <p:nvPicPr>
          <p:cNvPr id="15" name="Picture 14">
            <a:extLst>
              <a:ext uri="{FF2B5EF4-FFF2-40B4-BE49-F238E27FC236}">
                <a16:creationId xmlns:a16="http://schemas.microsoft.com/office/drawing/2014/main" id="{5DBDD871-8CDF-D6A0-3098-84DFB27A6F01}"/>
              </a:ext>
            </a:extLst>
          </p:cNvPr>
          <p:cNvPicPr>
            <a:picLocks noChangeAspect="1"/>
          </p:cNvPicPr>
          <p:nvPr/>
        </p:nvPicPr>
        <p:blipFill>
          <a:blip r:embed="rId3"/>
          <a:stretch>
            <a:fillRect/>
          </a:stretch>
        </p:blipFill>
        <p:spPr>
          <a:xfrm>
            <a:off x="5169684" y="1666082"/>
            <a:ext cx="3096427" cy="800659"/>
          </a:xfrm>
          <a:prstGeom prst="rect">
            <a:avLst/>
          </a:prstGeom>
        </p:spPr>
      </p:pic>
      <p:pic>
        <p:nvPicPr>
          <p:cNvPr id="17" name="Picture 16">
            <a:extLst>
              <a:ext uri="{FF2B5EF4-FFF2-40B4-BE49-F238E27FC236}">
                <a16:creationId xmlns:a16="http://schemas.microsoft.com/office/drawing/2014/main" id="{275B450A-258B-8DD1-9CFB-AAFB27DA1F74}"/>
              </a:ext>
            </a:extLst>
          </p:cNvPr>
          <p:cNvPicPr>
            <a:picLocks noChangeAspect="1"/>
          </p:cNvPicPr>
          <p:nvPr/>
        </p:nvPicPr>
        <p:blipFill>
          <a:blip r:embed="rId4"/>
          <a:stretch>
            <a:fillRect/>
          </a:stretch>
        </p:blipFill>
        <p:spPr>
          <a:xfrm>
            <a:off x="5169684" y="2599174"/>
            <a:ext cx="6288517" cy="695092"/>
          </a:xfrm>
          <a:prstGeom prst="rect">
            <a:avLst/>
          </a:prstGeom>
        </p:spPr>
      </p:pic>
      <p:pic>
        <p:nvPicPr>
          <p:cNvPr id="4" name="Picture 3">
            <a:extLst>
              <a:ext uri="{FF2B5EF4-FFF2-40B4-BE49-F238E27FC236}">
                <a16:creationId xmlns:a16="http://schemas.microsoft.com/office/drawing/2014/main" id="{060D3391-D7EA-EB6F-3222-F70C5350F184}"/>
              </a:ext>
            </a:extLst>
          </p:cNvPr>
          <p:cNvPicPr>
            <a:picLocks noChangeAspect="1"/>
          </p:cNvPicPr>
          <p:nvPr/>
        </p:nvPicPr>
        <p:blipFill>
          <a:blip r:embed="rId5"/>
          <a:stretch>
            <a:fillRect/>
          </a:stretch>
        </p:blipFill>
        <p:spPr>
          <a:xfrm>
            <a:off x="5704033" y="3294266"/>
            <a:ext cx="3932237" cy="2951022"/>
          </a:xfrm>
          <a:prstGeom prst="rect">
            <a:avLst/>
          </a:prstGeom>
        </p:spPr>
      </p:pic>
    </p:spTree>
    <p:extLst>
      <p:ext uri="{BB962C8B-B14F-4D97-AF65-F5344CB8AC3E}">
        <p14:creationId xmlns:p14="http://schemas.microsoft.com/office/powerpoint/2010/main" val="1225071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9E5BD-88AB-C18D-817B-A96E9E0A6435}"/>
              </a:ext>
            </a:extLst>
          </p:cNvPr>
          <p:cNvSpPr>
            <a:spLocks noGrp="1"/>
          </p:cNvSpPr>
          <p:nvPr>
            <p:ph type="title"/>
          </p:nvPr>
        </p:nvSpPr>
        <p:spPr/>
        <p:txBody>
          <a:bodyPr/>
          <a:lstStyle/>
          <a:p>
            <a:r>
              <a:rPr lang="en-US">
                <a:ea typeface="Open Sans SemiBold"/>
                <a:cs typeface="Times New Roman"/>
              </a:rPr>
              <a:t>Model Fitting and Analysis</a:t>
            </a:r>
            <a:endParaRPr lang="en-US">
              <a:cs typeface="Times New Roman"/>
            </a:endParaRPr>
          </a:p>
        </p:txBody>
      </p:sp>
      <p:pic>
        <p:nvPicPr>
          <p:cNvPr id="5" name="Content Placeholder 4" descr="A screenshot of a computer&#10;&#10;AI-generated content may be incorrect.">
            <a:extLst>
              <a:ext uri="{FF2B5EF4-FFF2-40B4-BE49-F238E27FC236}">
                <a16:creationId xmlns:a16="http://schemas.microsoft.com/office/drawing/2014/main" id="{7D856D60-4C7B-96EF-354A-170899F2897C}"/>
              </a:ext>
            </a:extLst>
          </p:cNvPr>
          <p:cNvPicPr>
            <a:picLocks noGrp="1" noChangeAspect="1"/>
          </p:cNvPicPr>
          <p:nvPr>
            <p:ph idx="1"/>
          </p:nvPr>
        </p:nvPicPr>
        <p:blipFill>
          <a:blip r:embed="rId2"/>
          <a:stretch>
            <a:fillRect/>
          </a:stretch>
        </p:blipFill>
        <p:spPr>
          <a:xfrm>
            <a:off x="5938108" y="2051806"/>
            <a:ext cx="4263215" cy="4208386"/>
          </a:xfrm>
          <a:prstGeom prst="rect">
            <a:avLst/>
          </a:prstGeom>
        </p:spPr>
      </p:pic>
      <p:sp>
        <p:nvSpPr>
          <p:cNvPr id="4" name="Text Placeholder 3">
            <a:extLst>
              <a:ext uri="{FF2B5EF4-FFF2-40B4-BE49-F238E27FC236}">
                <a16:creationId xmlns:a16="http://schemas.microsoft.com/office/drawing/2014/main" id="{AB0ABCB9-7B92-642F-EF9D-F7803E13C203}"/>
              </a:ext>
            </a:extLst>
          </p:cNvPr>
          <p:cNvSpPr>
            <a:spLocks noGrp="1"/>
          </p:cNvSpPr>
          <p:nvPr>
            <p:ph type="body" sz="half" idx="2"/>
          </p:nvPr>
        </p:nvSpPr>
        <p:spPr/>
        <p:txBody>
          <a:bodyPr vert="horz" lIns="91440" tIns="45720" rIns="91440" bIns="45720" rtlCol="0" anchor="t">
            <a:normAutofit/>
          </a:bodyPr>
          <a:lstStyle/>
          <a:p>
            <a:r>
              <a:rPr lang="en-US" sz="1800">
                <a:latin typeface="Times New Roman"/>
                <a:cs typeface="Times New Roman"/>
              </a:rPr>
              <a:t>The parameter estimate for plagiarism score is 18.1149, and intercept is –2.0681.</a:t>
            </a:r>
            <a:endParaRPr lang="en-US" sz="1800"/>
          </a:p>
          <a:p>
            <a:endParaRPr lang="en-US" sz="1800">
              <a:latin typeface="Times New Roman"/>
              <a:cs typeface="Times New Roman"/>
            </a:endParaRPr>
          </a:p>
          <a:p>
            <a:r>
              <a:rPr lang="en-US" sz="1800">
                <a:latin typeface="Times New Roman"/>
                <a:cs typeface="Times New Roman"/>
              </a:rPr>
              <a:t>The model appears to be highly significant, with P values well under 0.05, both &lt;.0001</a:t>
            </a:r>
            <a:endParaRPr lang="en-US" sz="1800"/>
          </a:p>
          <a:p>
            <a:endParaRPr lang="en-US" sz="1800"/>
          </a:p>
          <a:p>
            <a:r>
              <a:rPr lang="en-US" sz="1800">
                <a:latin typeface="Times New Roman"/>
                <a:cs typeface="Times New Roman"/>
              </a:rPr>
              <a:t>With a very significant likelihood ratio of &lt;.0001 probability, we can safely say that our model including the predictor is better than the model without any predictors.</a:t>
            </a:r>
            <a:endParaRPr lang="en-US" sz="1800"/>
          </a:p>
          <a:p>
            <a:endParaRPr lang="en-US"/>
          </a:p>
          <a:p>
            <a:endParaRPr lang="en-US"/>
          </a:p>
        </p:txBody>
      </p:sp>
      <p:pic>
        <p:nvPicPr>
          <p:cNvPr id="6" name="Picture 5" descr="A close up of a number&#10;&#10;AI-generated content may be incorrect.">
            <a:extLst>
              <a:ext uri="{FF2B5EF4-FFF2-40B4-BE49-F238E27FC236}">
                <a16:creationId xmlns:a16="http://schemas.microsoft.com/office/drawing/2014/main" id="{81405CB4-F4CD-649B-0996-B5161E349D66}"/>
              </a:ext>
            </a:extLst>
          </p:cNvPr>
          <p:cNvPicPr>
            <a:picLocks noChangeAspect="1"/>
          </p:cNvPicPr>
          <p:nvPr/>
        </p:nvPicPr>
        <p:blipFill>
          <a:blip r:embed="rId3"/>
          <a:stretch>
            <a:fillRect/>
          </a:stretch>
        </p:blipFill>
        <p:spPr>
          <a:xfrm>
            <a:off x="5035021" y="1219805"/>
            <a:ext cx="6524625" cy="838200"/>
          </a:xfrm>
          <a:prstGeom prst="rect">
            <a:avLst/>
          </a:prstGeom>
        </p:spPr>
      </p:pic>
    </p:spTree>
    <p:extLst>
      <p:ext uri="{BB962C8B-B14F-4D97-AF65-F5344CB8AC3E}">
        <p14:creationId xmlns:p14="http://schemas.microsoft.com/office/powerpoint/2010/main" val="3255919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10D47-9B91-BAE3-A5B0-6DCE5180D9E6}"/>
              </a:ext>
            </a:extLst>
          </p:cNvPr>
          <p:cNvSpPr>
            <a:spLocks noGrp="1"/>
          </p:cNvSpPr>
          <p:nvPr>
            <p:ph type="title"/>
          </p:nvPr>
        </p:nvSpPr>
        <p:spPr>
          <a:xfrm>
            <a:off x="838201" y="262864"/>
            <a:ext cx="4764315" cy="1679348"/>
          </a:xfrm>
        </p:spPr>
        <p:txBody>
          <a:bodyPr anchor="ctr">
            <a:normAutofit/>
          </a:bodyPr>
          <a:lstStyle/>
          <a:p>
            <a:r>
              <a:rPr lang="en-US"/>
              <a:t>Model Fitting and Analysis</a:t>
            </a:r>
          </a:p>
        </p:txBody>
      </p:sp>
      <p:sp>
        <p:nvSpPr>
          <p:cNvPr id="3" name="Content Placeholder 2">
            <a:extLst>
              <a:ext uri="{FF2B5EF4-FFF2-40B4-BE49-F238E27FC236}">
                <a16:creationId xmlns:a16="http://schemas.microsoft.com/office/drawing/2014/main" id="{8295F177-9F94-525B-86AD-D46F3C465A50}"/>
              </a:ext>
            </a:extLst>
          </p:cNvPr>
          <p:cNvSpPr>
            <a:spLocks noGrp="1"/>
          </p:cNvSpPr>
          <p:nvPr>
            <p:ph sz="half" idx="1"/>
          </p:nvPr>
        </p:nvSpPr>
        <p:spPr>
          <a:xfrm>
            <a:off x="838201" y="1737797"/>
            <a:ext cx="5072743" cy="3997553"/>
          </a:xfrm>
        </p:spPr>
        <p:txBody>
          <a:bodyPr vert="horz" lIns="91440" tIns="45720" rIns="91440" bIns="45720" rtlCol="0" anchor="t">
            <a:normAutofit/>
          </a:bodyPr>
          <a:lstStyle/>
          <a:p>
            <a:pPr marL="0" indent="0">
              <a:buNone/>
            </a:pPr>
            <a:r>
              <a:rPr lang="en-US" b="1">
                <a:latin typeface="Times New Roman"/>
                <a:cs typeface="Times New Roman"/>
              </a:rPr>
              <a:t>Logistic Regression Model</a:t>
            </a:r>
            <a:endParaRPr lang="en-US">
              <a:latin typeface="Times New Roman"/>
              <a:cs typeface="Times New Roman"/>
            </a:endParaRPr>
          </a:p>
          <a:p>
            <a:pPr marL="0" indent="0">
              <a:buNone/>
            </a:pPr>
            <a:r>
              <a:rPr lang="en-US" sz="2000">
                <a:latin typeface="Times New Roman"/>
                <a:cs typeface="Times New Roman"/>
              </a:rPr>
              <a:t>We ran the calculations to find the empirical logit by ranking the data into 10 bins. After exporting bin data and calculating empirical logit using the formula, we plotted it using proc </a:t>
            </a:r>
            <a:r>
              <a:rPr lang="en-US" sz="2000" err="1">
                <a:latin typeface="Times New Roman"/>
                <a:cs typeface="Times New Roman"/>
              </a:rPr>
              <a:t>sgscatter</a:t>
            </a:r>
            <a:r>
              <a:rPr lang="en-US" sz="2000">
                <a:latin typeface="Times New Roman"/>
                <a:cs typeface="Times New Roman"/>
              </a:rPr>
              <a:t>.</a:t>
            </a:r>
          </a:p>
          <a:p>
            <a:pPr marL="0" indent="0">
              <a:buNone/>
            </a:pPr>
            <a:endParaRPr lang="en-US" sz="2000"/>
          </a:p>
          <a:p>
            <a:pPr marL="0" indent="0">
              <a:buNone/>
            </a:pPr>
            <a:r>
              <a:rPr lang="en-US" sz="2000">
                <a:latin typeface="Times New Roman"/>
                <a:cs typeface="Times New Roman"/>
              </a:rPr>
              <a:t>The line having a completely linear appearance proves that standard logistic regression is an appropriate approach to the model. </a:t>
            </a:r>
            <a:endParaRPr lang="en-US" sz="2000"/>
          </a:p>
        </p:txBody>
      </p:sp>
      <p:pic>
        <p:nvPicPr>
          <p:cNvPr id="5" name="Picture 4">
            <a:extLst>
              <a:ext uri="{FF2B5EF4-FFF2-40B4-BE49-F238E27FC236}">
                <a16:creationId xmlns:a16="http://schemas.microsoft.com/office/drawing/2014/main" id="{30642F03-5B57-8B0E-5A29-A7247B5B8DFD}"/>
              </a:ext>
            </a:extLst>
          </p:cNvPr>
          <p:cNvPicPr>
            <a:picLocks noChangeAspect="1"/>
          </p:cNvPicPr>
          <p:nvPr/>
        </p:nvPicPr>
        <p:blipFill>
          <a:blip r:embed="rId2"/>
          <a:stretch>
            <a:fillRect/>
          </a:stretch>
        </p:blipFill>
        <p:spPr>
          <a:xfrm>
            <a:off x="6426200" y="2968304"/>
            <a:ext cx="4102100" cy="3063836"/>
          </a:xfrm>
          <a:prstGeom prst="rect">
            <a:avLst/>
          </a:prstGeom>
          <a:noFill/>
        </p:spPr>
      </p:pic>
      <p:pic>
        <p:nvPicPr>
          <p:cNvPr id="4" name="Picture 3" descr="A screenshot of a computer code&#10;&#10;AI-generated content may be incorrect.">
            <a:extLst>
              <a:ext uri="{FF2B5EF4-FFF2-40B4-BE49-F238E27FC236}">
                <a16:creationId xmlns:a16="http://schemas.microsoft.com/office/drawing/2014/main" id="{96CEDBA1-505A-3DEA-BC3B-18A2C6C37451}"/>
              </a:ext>
            </a:extLst>
          </p:cNvPr>
          <p:cNvPicPr>
            <a:picLocks noChangeAspect="1"/>
          </p:cNvPicPr>
          <p:nvPr/>
        </p:nvPicPr>
        <p:blipFill>
          <a:blip r:embed="rId3"/>
          <a:stretch>
            <a:fillRect/>
          </a:stretch>
        </p:blipFill>
        <p:spPr>
          <a:xfrm>
            <a:off x="6092596" y="359454"/>
            <a:ext cx="4778376" cy="2519590"/>
          </a:xfrm>
          <a:prstGeom prst="rect">
            <a:avLst/>
          </a:prstGeom>
        </p:spPr>
      </p:pic>
    </p:spTree>
    <p:extLst>
      <p:ext uri="{BB962C8B-B14F-4D97-AF65-F5344CB8AC3E}">
        <p14:creationId xmlns:p14="http://schemas.microsoft.com/office/powerpoint/2010/main" val="1237424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BEFDD-9825-0E88-0D7B-561DB5FFDC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703C82-FD11-7720-83F9-0363B7D59E77}"/>
              </a:ext>
            </a:extLst>
          </p:cNvPr>
          <p:cNvSpPr>
            <a:spLocks noGrp="1"/>
          </p:cNvSpPr>
          <p:nvPr>
            <p:ph type="title"/>
          </p:nvPr>
        </p:nvSpPr>
        <p:spPr>
          <a:xfrm>
            <a:off x="702129" y="580130"/>
            <a:ext cx="4691743" cy="893138"/>
          </a:xfrm>
        </p:spPr>
        <p:txBody>
          <a:bodyPr>
            <a:normAutofit fontScale="90000"/>
          </a:bodyPr>
          <a:lstStyle/>
          <a:p>
            <a:r>
              <a:rPr lang="en-US">
                <a:cs typeface="Times New Roman"/>
              </a:rPr>
              <a:t>Model Fitting and Analysis - Multivariate</a:t>
            </a:r>
            <a:endParaRPr lang="en-US"/>
          </a:p>
        </p:txBody>
      </p:sp>
      <p:sp>
        <p:nvSpPr>
          <p:cNvPr id="3" name="Content Placeholder 2">
            <a:extLst>
              <a:ext uri="{FF2B5EF4-FFF2-40B4-BE49-F238E27FC236}">
                <a16:creationId xmlns:a16="http://schemas.microsoft.com/office/drawing/2014/main" id="{779D1D2D-D294-007C-42F4-28B681C6CDE7}"/>
              </a:ext>
            </a:extLst>
          </p:cNvPr>
          <p:cNvSpPr>
            <a:spLocks noGrp="1"/>
          </p:cNvSpPr>
          <p:nvPr>
            <p:ph idx="1"/>
          </p:nvPr>
        </p:nvSpPr>
        <p:spPr>
          <a:xfrm>
            <a:off x="693057" y="2053839"/>
            <a:ext cx="3884386" cy="3498096"/>
          </a:xfrm>
        </p:spPr>
        <p:txBody>
          <a:bodyPr vert="horz" lIns="91440" tIns="45720" rIns="91440" bIns="45720" rtlCol="0" anchor="t">
            <a:normAutofit/>
          </a:bodyPr>
          <a:lstStyle/>
          <a:p>
            <a:pPr marL="0" indent="0">
              <a:buNone/>
            </a:pPr>
            <a:r>
              <a:rPr lang="en-US" b="1">
                <a:latin typeface="Times New Roman"/>
                <a:cs typeface="Times New Roman"/>
              </a:rPr>
              <a:t>Multicollinearity</a:t>
            </a:r>
          </a:p>
          <a:p>
            <a:pPr marL="0" indent="0">
              <a:buNone/>
            </a:pPr>
            <a:r>
              <a:rPr lang="en-US" sz="2000">
                <a:latin typeface="Times New Roman"/>
                <a:cs typeface="Times New Roman"/>
              </a:rPr>
              <a:t>To determine multicollinearity, we ran the VIF statement on all of the predictors in the model. </a:t>
            </a:r>
          </a:p>
          <a:p>
            <a:pPr marL="0" indent="0">
              <a:buNone/>
            </a:pPr>
            <a:r>
              <a:rPr lang="en-US" sz="2000">
                <a:latin typeface="Times New Roman"/>
                <a:cs typeface="Times New Roman"/>
              </a:rPr>
              <a:t>Since length chars and length words have such high VIF values, we decided to remove one of them despite them both being significant, which fixed the issues.</a:t>
            </a:r>
          </a:p>
        </p:txBody>
      </p:sp>
      <p:pic>
        <p:nvPicPr>
          <p:cNvPr id="4" name="Picture 3" descr="A close-up of a word&#10;&#10;AI-generated content may be incorrect.">
            <a:extLst>
              <a:ext uri="{FF2B5EF4-FFF2-40B4-BE49-F238E27FC236}">
                <a16:creationId xmlns:a16="http://schemas.microsoft.com/office/drawing/2014/main" id="{699E15C6-9AF4-F8DA-49D7-0D3870C69592}"/>
              </a:ext>
            </a:extLst>
          </p:cNvPr>
          <p:cNvPicPr>
            <a:picLocks noChangeAspect="1"/>
          </p:cNvPicPr>
          <p:nvPr/>
        </p:nvPicPr>
        <p:blipFill>
          <a:blip r:embed="rId2"/>
          <a:stretch>
            <a:fillRect/>
          </a:stretch>
        </p:blipFill>
        <p:spPr>
          <a:xfrm>
            <a:off x="4160384" y="933902"/>
            <a:ext cx="7853590" cy="536122"/>
          </a:xfrm>
          <a:prstGeom prst="rect">
            <a:avLst/>
          </a:prstGeom>
        </p:spPr>
      </p:pic>
      <p:pic>
        <p:nvPicPr>
          <p:cNvPr id="6" name="Picture 5" descr="A table with numbers and symbols&#10;&#10;AI-generated content may be incorrect.">
            <a:extLst>
              <a:ext uri="{FF2B5EF4-FFF2-40B4-BE49-F238E27FC236}">
                <a16:creationId xmlns:a16="http://schemas.microsoft.com/office/drawing/2014/main" id="{64707082-9A91-A7B1-8E91-3B9EC53E1F12}"/>
              </a:ext>
            </a:extLst>
          </p:cNvPr>
          <p:cNvPicPr>
            <a:picLocks noChangeAspect="1"/>
          </p:cNvPicPr>
          <p:nvPr/>
        </p:nvPicPr>
        <p:blipFill>
          <a:blip r:embed="rId3"/>
          <a:stretch>
            <a:fillRect/>
          </a:stretch>
        </p:blipFill>
        <p:spPr>
          <a:xfrm>
            <a:off x="5853793" y="3804102"/>
            <a:ext cx="4593772" cy="1944008"/>
          </a:xfrm>
          <a:prstGeom prst="rect">
            <a:avLst/>
          </a:prstGeom>
        </p:spPr>
      </p:pic>
      <p:pic>
        <p:nvPicPr>
          <p:cNvPr id="8" name="Picture 7" descr="A table with numbers and symbols&#10;&#10;AI-generated content may be incorrect.">
            <a:extLst>
              <a:ext uri="{FF2B5EF4-FFF2-40B4-BE49-F238E27FC236}">
                <a16:creationId xmlns:a16="http://schemas.microsoft.com/office/drawing/2014/main" id="{B212FBBC-7CEB-E884-B4FB-49DBC9923BB8}"/>
              </a:ext>
            </a:extLst>
          </p:cNvPr>
          <p:cNvPicPr>
            <a:picLocks noChangeAspect="1"/>
          </p:cNvPicPr>
          <p:nvPr/>
        </p:nvPicPr>
        <p:blipFill>
          <a:blip r:embed="rId4"/>
          <a:stretch>
            <a:fillRect/>
          </a:stretch>
        </p:blipFill>
        <p:spPr>
          <a:xfrm>
            <a:off x="5853339" y="1715179"/>
            <a:ext cx="4458608" cy="2075997"/>
          </a:xfrm>
          <a:prstGeom prst="rect">
            <a:avLst/>
          </a:prstGeom>
        </p:spPr>
      </p:pic>
    </p:spTree>
    <p:extLst>
      <p:ext uri="{BB962C8B-B14F-4D97-AF65-F5344CB8AC3E}">
        <p14:creationId xmlns:p14="http://schemas.microsoft.com/office/powerpoint/2010/main" val="10768331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E2AC1-7DB6-1D1B-41A7-A6F28D52E2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C993E6-B24E-AD73-861B-782522055362}"/>
              </a:ext>
            </a:extLst>
          </p:cNvPr>
          <p:cNvSpPr>
            <a:spLocks noGrp="1"/>
          </p:cNvSpPr>
          <p:nvPr>
            <p:ph type="title"/>
          </p:nvPr>
        </p:nvSpPr>
        <p:spPr/>
        <p:txBody>
          <a:bodyPr/>
          <a:lstStyle/>
          <a:p>
            <a:r>
              <a:rPr lang="en-US"/>
              <a:t>Model Fitting and Analysis</a:t>
            </a:r>
          </a:p>
        </p:txBody>
      </p:sp>
      <p:sp>
        <p:nvSpPr>
          <p:cNvPr id="3" name="Content Placeholder 2">
            <a:extLst>
              <a:ext uri="{FF2B5EF4-FFF2-40B4-BE49-F238E27FC236}">
                <a16:creationId xmlns:a16="http://schemas.microsoft.com/office/drawing/2014/main" id="{CF1FC0B0-65C9-FFF5-6E14-F66217931073}"/>
              </a:ext>
            </a:extLst>
          </p:cNvPr>
          <p:cNvSpPr>
            <a:spLocks noGrp="1"/>
          </p:cNvSpPr>
          <p:nvPr>
            <p:ph idx="1"/>
          </p:nvPr>
        </p:nvSpPr>
        <p:spPr>
          <a:xfrm>
            <a:off x="838200" y="1418839"/>
            <a:ext cx="10515600" cy="4187524"/>
          </a:xfrm>
        </p:spPr>
        <p:txBody>
          <a:bodyPr vert="horz" lIns="91440" tIns="45720" rIns="91440" bIns="45720" rtlCol="0" anchor="t">
            <a:normAutofit/>
          </a:bodyPr>
          <a:lstStyle/>
          <a:p>
            <a:pPr marL="0" indent="0">
              <a:buNone/>
            </a:pPr>
            <a:r>
              <a:rPr lang="en-US" b="1">
                <a:latin typeface="Times New Roman"/>
                <a:cs typeface="Times New Roman"/>
              </a:rPr>
              <a:t>Residual plots and Leverage</a:t>
            </a:r>
          </a:p>
        </p:txBody>
      </p:sp>
      <p:pic>
        <p:nvPicPr>
          <p:cNvPr id="5" name="Picture 4">
            <a:extLst>
              <a:ext uri="{FF2B5EF4-FFF2-40B4-BE49-F238E27FC236}">
                <a16:creationId xmlns:a16="http://schemas.microsoft.com/office/drawing/2014/main" id="{4788A2D6-7854-4171-46A2-704BBD380AEF}"/>
              </a:ext>
            </a:extLst>
          </p:cNvPr>
          <p:cNvPicPr>
            <a:picLocks noChangeAspect="1"/>
          </p:cNvPicPr>
          <p:nvPr/>
        </p:nvPicPr>
        <p:blipFill>
          <a:blip r:embed="rId2"/>
          <a:stretch>
            <a:fillRect/>
          </a:stretch>
        </p:blipFill>
        <p:spPr>
          <a:xfrm>
            <a:off x="145473" y="2405495"/>
            <a:ext cx="3053117" cy="3662795"/>
          </a:xfrm>
          <a:prstGeom prst="rect">
            <a:avLst/>
          </a:prstGeom>
        </p:spPr>
      </p:pic>
      <p:pic>
        <p:nvPicPr>
          <p:cNvPr id="7" name="Picture 6">
            <a:extLst>
              <a:ext uri="{FF2B5EF4-FFF2-40B4-BE49-F238E27FC236}">
                <a16:creationId xmlns:a16="http://schemas.microsoft.com/office/drawing/2014/main" id="{28D90C27-DEBA-2DC9-8FC4-B12BD9D2949B}"/>
              </a:ext>
            </a:extLst>
          </p:cNvPr>
          <p:cNvPicPr>
            <a:picLocks noChangeAspect="1"/>
          </p:cNvPicPr>
          <p:nvPr/>
        </p:nvPicPr>
        <p:blipFill>
          <a:blip r:embed="rId3"/>
          <a:stretch>
            <a:fillRect/>
          </a:stretch>
        </p:blipFill>
        <p:spPr>
          <a:xfrm>
            <a:off x="3253142" y="2315324"/>
            <a:ext cx="3812352" cy="3787458"/>
          </a:xfrm>
          <a:prstGeom prst="rect">
            <a:avLst/>
          </a:prstGeom>
        </p:spPr>
      </p:pic>
      <p:pic>
        <p:nvPicPr>
          <p:cNvPr id="9" name="Picture 8">
            <a:extLst>
              <a:ext uri="{FF2B5EF4-FFF2-40B4-BE49-F238E27FC236}">
                <a16:creationId xmlns:a16="http://schemas.microsoft.com/office/drawing/2014/main" id="{3C287235-CA94-1F2F-6B5A-5A797AFA4EF4}"/>
              </a:ext>
            </a:extLst>
          </p:cNvPr>
          <p:cNvPicPr>
            <a:picLocks noChangeAspect="1"/>
          </p:cNvPicPr>
          <p:nvPr/>
        </p:nvPicPr>
        <p:blipFill>
          <a:blip r:embed="rId4"/>
          <a:stretch>
            <a:fillRect/>
          </a:stretch>
        </p:blipFill>
        <p:spPr>
          <a:xfrm>
            <a:off x="7120047" y="2315324"/>
            <a:ext cx="5023316" cy="3787458"/>
          </a:xfrm>
          <a:prstGeom prst="rect">
            <a:avLst/>
          </a:prstGeom>
        </p:spPr>
      </p:pic>
    </p:spTree>
    <p:extLst>
      <p:ext uri="{BB962C8B-B14F-4D97-AF65-F5344CB8AC3E}">
        <p14:creationId xmlns:p14="http://schemas.microsoft.com/office/powerpoint/2010/main" val="4174829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BB2B2-AD61-213E-D53B-0E2BCD0A39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A90FF5-3D61-E334-9ECC-4BD776ED6BF5}"/>
              </a:ext>
            </a:extLst>
          </p:cNvPr>
          <p:cNvSpPr>
            <a:spLocks noGrp="1"/>
          </p:cNvSpPr>
          <p:nvPr>
            <p:ph type="title"/>
          </p:nvPr>
        </p:nvSpPr>
        <p:spPr/>
        <p:txBody>
          <a:bodyPr/>
          <a:lstStyle/>
          <a:p>
            <a:r>
              <a:rPr lang="en-US"/>
              <a:t>Model Fitting and Analysis</a:t>
            </a:r>
          </a:p>
        </p:txBody>
      </p:sp>
      <p:sp>
        <p:nvSpPr>
          <p:cNvPr id="3" name="Content Placeholder 2">
            <a:extLst>
              <a:ext uri="{FF2B5EF4-FFF2-40B4-BE49-F238E27FC236}">
                <a16:creationId xmlns:a16="http://schemas.microsoft.com/office/drawing/2014/main" id="{498A1146-6737-3945-5F26-AC3F9E50E40A}"/>
              </a:ext>
            </a:extLst>
          </p:cNvPr>
          <p:cNvSpPr>
            <a:spLocks noGrp="1"/>
          </p:cNvSpPr>
          <p:nvPr>
            <p:ph idx="1"/>
          </p:nvPr>
        </p:nvSpPr>
        <p:spPr>
          <a:xfrm>
            <a:off x="838200" y="1415016"/>
            <a:ext cx="10515600" cy="4187524"/>
          </a:xfrm>
        </p:spPr>
        <p:txBody>
          <a:bodyPr vert="horz" lIns="91440" tIns="45720" rIns="91440" bIns="45720" rtlCol="0" anchor="t">
            <a:normAutofit/>
          </a:bodyPr>
          <a:lstStyle/>
          <a:p>
            <a:pPr marL="0" indent="0">
              <a:buNone/>
            </a:pPr>
            <a:r>
              <a:rPr lang="en-US" b="1">
                <a:latin typeface="Times New Roman"/>
                <a:cs typeface="Times New Roman"/>
              </a:rPr>
              <a:t>Predictor selection – Stepwise method</a:t>
            </a:r>
            <a:endParaRPr lang="en-US" b="1"/>
          </a:p>
        </p:txBody>
      </p:sp>
      <p:pic>
        <p:nvPicPr>
          <p:cNvPr id="9" name="Picture 8">
            <a:extLst>
              <a:ext uri="{FF2B5EF4-FFF2-40B4-BE49-F238E27FC236}">
                <a16:creationId xmlns:a16="http://schemas.microsoft.com/office/drawing/2014/main" id="{1E30947E-A3B2-C2D5-817F-19E290302150}"/>
              </a:ext>
            </a:extLst>
          </p:cNvPr>
          <p:cNvPicPr>
            <a:picLocks noChangeAspect="1"/>
          </p:cNvPicPr>
          <p:nvPr/>
        </p:nvPicPr>
        <p:blipFill>
          <a:blip r:embed="rId2"/>
          <a:srcRect r="44" b="40454"/>
          <a:stretch>
            <a:fillRect/>
          </a:stretch>
        </p:blipFill>
        <p:spPr>
          <a:xfrm>
            <a:off x="5164985" y="2107756"/>
            <a:ext cx="2096425" cy="4083627"/>
          </a:xfrm>
          <a:prstGeom prst="rect">
            <a:avLst/>
          </a:prstGeom>
        </p:spPr>
      </p:pic>
      <p:pic>
        <p:nvPicPr>
          <p:cNvPr id="13" name="Picture 12">
            <a:extLst>
              <a:ext uri="{FF2B5EF4-FFF2-40B4-BE49-F238E27FC236}">
                <a16:creationId xmlns:a16="http://schemas.microsoft.com/office/drawing/2014/main" id="{8123AA77-0009-1454-20D8-A2151CBF7140}"/>
              </a:ext>
            </a:extLst>
          </p:cNvPr>
          <p:cNvPicPr>
            <a:picLocks noChangeAspect="1"/>
          </p:cNvPicPr>
          <p:nvPr/>
        </p:nvPicPr>
        <p:blipFill>
          <a:blip r:embed="rId3"/>
          <a:srcRect b="42818"/>
          <a:stretch>
            <a:fillRect/>
          </a:stretch>
        </p:blipFill>
        <p:spPr>
          <a:xfrm>
            <a:off x="152593" y="2132817"/>
            <a:ext cx="2402837" cy="4151803"/>
          </a:xfrm>
          <a:prstGeom prst="rect">
            <a:avLst/>
          </a:prstGeom>
        </p:spPr>
      </p:pic>
      <p:pic>
        <p:nvPicPr>
          <p:cNvPr id="15" name="Picture 14">
            <a:extLst>
              <a:ext uri="{FF2B5EF4-FFF2-40B4-BE49-F238E27FC236}">
                <a16:creationId xmlns:a16="http://schemas.microsoft.com/office/drawing/2014/main" id="{26A4F7CB-4B83-45F8-3D09-5F12F24E07EE}"/>
              </a:ext>
            </a:extLst>
          </p:cNvPr>
          <p:cNvPicPr>
            <a:picLocks noChangeAspect="1"/>
          </p:cNvPicPr>
          <p:nvPr/>
        </p:nvPicPr>
        <p:blipFill>
          <a:blip r:embed="rId3"/>
          <a:srcRect t="57121"/>
          <a:stretch>
            <a:fillRect/>
          </a:stretch>
        </p:blipFill>
        <p:spPr>
          <a:xfrm>
            <a:off x="2402612" y="2291360"/>
            <a:ext cx="2868343" cy="3716421"/>
          </a:xfrm>
          <a:prstGeom prst="rect">
            <a:avLst/>
          </a:prstGeom>
        </p:spPr>
      </p:pic>
      <p:pic>
        <p:nvPicPr>
          <p:cNvPr id="17" name="Picture 16">
            <a:extLst>
              <a:ext uri="{FF2B5EF4-FFF2-40B4-BE49-F238E27FC236}">
                <a16:creationId xmlns:a16="http://schemas.microsoft.com/office/drawing/2014/main" id="{362F1CB4-7BAF-C4C2-4A10-6BCDA22763B9}"/>
              </a:ext>
            </a:extLst>
          </p:cNvPr>
          <p:cNvPicPr>
            <a:picLocks noChangeAspect="1"/>
          </p:cNvPicPr>
          <p:nvPr/>
        </p:nvPicPr>
        <p:blipFill>
          <a:blip r:embed="rId4"/>
          <a:stretch>
            <a:fillRect/>
          </a:stretch>
        </p:blipFill>
        <p:spPr>
          <a:xfrm>
            <a:off x="9184324" y="2107756"/>
            <a:ext cx="2687076" cy="4187524"/>
          </a:xfrm>
          <a:prstGeom prst="rect">
            <a:avLst/>
          </a:prstGeom>
        </p:spPr>
      </p:pic>
      <p:pic>
        <p:nvPicPr>
          <p:cNvPr id="21" name="Picture 20">
            <a:extLst>
              <a:ext uri="{FF2B5EF4-FFF2-40B4-BE49-F238E27FC236}">
                <a16:creationId xmlns:a16="http://schemas.microsoft.com/office/drawing/2014/main" id="{E2FE270F-E47C-F3A6-28B9-6D4033B781F3}"/>
              </a:ext>
            </a:extLst>
          </p:cNvPr>
          <p:cNvPicPr>
            <a:picLocks noChangeAspect="1"/>
          </p:cNvPicPr>
          <p:nvPr/>
        </p:nvPicPr>
        <p:blipFill>
          <a:blip r:embed="rId2"/>
          <a:srcRect t="59773" r="44"/>
          <a:stretch>
            <a:fillRect/>
          </a:stretch>
        </p:blipFill>
        <p:spPr>
          <a:xfrm>
            <a:off x="7193869" y="2684198"/>
            <a:ext cx="2096425" cy="2758786"/>
          </a:xfrm>
          <a:prstGeom prst="rect">
            <a:avLst/>
          </a:prstGeom>
        </p:spPr>
      </p:pic>
    </p:spTree>
    <p:extLst>
      <p:ext uri="{BB962C8B-B14F-4D97-AF65-F5344CB8AC3E}">
        <p14:creationId xmlns:p14="http://schemas.microsoft.com/office/powerpoint/2010/main" val="31390280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74CA0-D023-24DE-FD89-A441F99129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386C11-1615-2F8C-4396-1E3BBAA2CE22}"/>
              </a:ext>
            </a:extLst>
          </p:cNvPr>
          <p:cNvSpPr>
            <a:spLocks noGrp="1"/>
          </p:cNvSpPr>
          <p:nvPr>
            <p:ph type="title"/>
          </p:nvPr>
        </p:nvSpPr>
        <p:spPr>
          <a:xfrm>
            <a:off x="838200" y="365125"/>
            <a:ext cx="10515600" cy="1325563"/>
          </a:xfrm>
        </p:spPr>
        <p:txBody>
          <a:bodyPr anchor="ctr">
            <a:normAutofit/>
          </a:bodyPr>
          <a:lstStyle/>
          <a:p>
            <a:r>
              <a:rPr lang="en-US">
                <a:cs typeface="Times New Roman"/>
              </a:rPr>
              <a:t>Model Fitting and Analysis </a:t>
            </a:r>
            <a:endParaRPr lang="en-US"/>
          </a:p>
        </p:txBody>
      </p:sp>
      <p:sp>
        <p:nvSpPr>
          <p:cNvPr id="3" name="Content Placeholder 2">
            <a:extLst>
              <a:ext uri="{FF2B5EF4-FFF2-40B4-BE49-F238E27FC236}">
                <a16:creationId xmlns:a16="http://schemas.microsoft.com/office/drawing/2014/main" id="{C3BC5D29-DC6A-A0FC-F330-471C7E40D69F}"/>
              </a:ext>
            </a:extLst>
          </p:cNvPr>
          <p:cNvSpPr>
            <a:spLocks noGrp="1"/>
          </p:cNvSpPr>
          <p:nvPr>
            <p:ph sz="half" idx="1"/>
          </p:nvPr>
        </p:nvSpPr>
        <p:spPr>
          <a:xfrm>
            <a:off x="838200" y="1467138"/>
            <a:ext cx="5181600" cy="4351338"/>
          </a:xfrm>
        </p:spPr>
        <p:txBody>
          <a:bodyPr vert="horz" lIns="91440" tIns="45720" rIns="91440" bIns="45720" rtlCol="0" anchor="t">
            <a:normAutofit/>
          </a:bodyPr>
          <a:lstStyle/>
          <a:p>
            <a:pPr marL="0" indent="0">
              <a:buNone/>
            </a:pPr>
            <a:r>
              <a:rPr lang="en-US" b="1">
                <a:latin typeface="Times New Roman"/>
                <a:cs typeface="Times New Roman"/>
              </a:rPr>
              <a:t>Best Model</a:t>
            </a:r>
          </a:p>
          <a:p>
            <a:pPr marL="0" indent="0">
              <a:buNone/>
            </a:pPr>
            <a:r>
              <a:rPr lang="en-US" sz="2000">
                <a:latin typeface="Times New Roman"/>
                <a:cs typeface="Times New Roman"/>
              </a:rPr>
              <a:t>Through the stepwise selection method, we found that the best model includes 3 predictors.</a:t>
            </a:r>
            <a:endParaRPr lang="en-US" sz="2000"/>
          </a:p>
          <a:p>
            <a:pPr marL="0" indent="0">
              <a:buNone/>
            </a:pPr>
            <a:r>
              <a:rPr lang="en-US" sz="2000">
                <a:latin typeface="Times New Roman"/>
                <a:cs typeface="Times New Roman"/>
              </a:rPr>
              <a:t>Length words: 0.0868</a:t>
            </a:r>
            <a:endParaRPr lang="en-US" sz="2000"/>
          </a:p>
          <a:p>
            <a:pPr marL="0" indent="0">
              <a:buNone/>
            </a:pPr>
            <a:r>
              <a:rPr lang="en-US" sz="2000">
                <a:latin typeface="Times New Roman"/>
                <a:cs typeface="Times New Roman"/>
              </a:rPr>
              <a:t>Quality score: -0.6839</a:t>
            </a:r>
            <a:endParaRPr lang="en-US" sz="2000"/>
          </a:p>
          <a:p>
            <a:pPr marL="0" indent="0">
              <a:buNone/>
            </a:pPr>
            <a:r>
              <a:rPr lang="en-US" sz="2000">
                <a:latin typeface="Times New Roman"/>
                <a:cs typeface="Times New Roman"/>
              </a:rPr>
              <a:t>Plagiarism Score: 17.5253</a:t>
            </a:r>
            <a:endParaRPr lang="en-US" sz="2000"/>
          </a:p>
          <a:p>
            <a:pPr marL="0" indent="0">
              <a:buNone/>
            </a:pPr>
            <a:r>
              <a:rPr lang="en-US" sz="2000">
                <a:latin typeface="Times New Roman"/>
                <a:cs typeface="Times New Roman"/>
              </a:rPr>
              <a:t>And an intercept: –1.0059</a:t>
            </a:r>
          </a:p>
          <a:p>
            <a:pPr marL="0" indent="0">
              <a:buNone/>
            </a:pPr>
            <a:r>
              <a:rPr lang="en-US" sz="2000">
                <a:latin typeface="Times New Roman"/>
                <a:cs typeface="Times New Roman"/>
              </a:rPr>
              <a:t>Additionally, the likelihood ratio test shows that our model is more significant than the model with 0 predictors. </a:t>
            </a:r>
            <a:br>
              <a:rPr lang="en-US" sz="2000">
                <a:latin typeface="Times New Roman"/>
                <a:cs typeface="Times New Roman"/>
              </a:rPr>
            </a:br>
            <a:endParaRPr lang="en-US" sz="2000"/>
          </a:p>
          <a:p>
            <a:pPr marL="0" indent="0">
              <a:buNone/>
            </a:pPr>
            <a:endParaRPr lang="en-US" sz="2000"/>
          </a:p>
          <a:p>
            <a:pPr marL="0" indent="0">
              <a:buNone/>
            </a:pPr>
            <a:endParaRPr lang="en-US" b="1"/>
          </a:p>
        </p:txBody>
      </p:sp>
      <p:pic>
        <p:nvPicPr>
          <p:cNvPr id="5" name="Picture 4" descr="A screenshot of a test results&#10;&#10;AI-generated content may be incorrect.">
            <a:extLst>
              <a:ext uri="{FF2B5EF4-FFF2-40B4-BE49-F238E27FC236}">
                <a16:creationId xmlns:a16="http://schemas.microsoft.com/office/drawing/2014/main" id="{21DF9A64-F860-7A01-054A-33C10CD5968F}"/>
              </a:ext>
            </a:extLst>
          </p:cNvPr>
          <p:cNvPicPr>
            <a:picLocks noChangeAspect="1"/>
          </p:cNvPicPr>
          <p:nvPr/>
        </p:nvPicPr>
        <p:blipFill>
          <a:blip r:embed="rId2"/>
          <a:stretch>
            <a:fillRect/>
          </a:stretch>
        </p:blipFill>
        <p:spPr>
          <a:xfrm>
            <a:off x="6568609" y="1421751"/>
            <a:ext cx="4527906" cy="4007197"/>
          </a:xfrm>
          <a:prstGeom prst="rect">
            <a:avLst/>
          </a:prstGeom>
          <a:noFill/>
        </p:spPr>
      </p:pic>
    </p:spTree>
    <p:extLst>
      <p:ext uri="{BB962C8B-B14F-4D97-AF65-F5344CB8AC3E}">
        <p14:creationId xmlns:p14="http://schemas.microsoft.com/office/powerpoint/2010/main" val="7552706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D5EEB-73CA-19D1-D053-A17F15EE29C8}"/>
              </a:ext>
            </a:extLst>
          </p:cNvPr>
          <p:cNvSpPr>
            <a:spLocks noGrp="1"/>
          </p:cNvSpPr>
          <p:nvPr>
            <p:ph type="title"/>
          </p:nvPr>
        </p:nvSpPr>
        <p:spPr/>
        <p:txBody>
          <a:bodyPr/>
          <a:lstStyle/>
          <a:p>
            <a:r>
              <a:rPr lang="en-US">
                <a:ea typeface="Open Sans SemiBold"/>
                <a:cs typeface="Times New Roman"/>
              </a:rPr>
              <a:t>Model Fitting and Analysis</a:t>
            </a:r>
            <a:endParaRPr lang="en-US">
              <a:ea typeface="Open Sans SemiBold"/>
            </a:endParaRPr>
          </a:p>
        </p:txBody>
      </p:sp>
      <p:sp>
        <p:nvSpPr>
          <p:cNvPr id="3" name="Content Placeholder 2">
            <a:extLst>
              <a:ext uri="{FF2B5EF4-FFF2-40B4-BE49-F238E27FC236}">
                <a16:creationId xmlns:a16="http://schemas.microsoft.com/office/drawing/2014/main" id="{39D45F82-A3CA-D5C1-02DE-945020374E5F}"/>
              </a:ext>
            </a:extLst>
          </p:cNvPr>
          <p:cNvSpPr>
            <a:spLocks noGrp="1"/>
          </p:cNvSpPr>
          <p:nvPr>
            <p:ph sz="half" idx="1"/>
          </p:nvPr>
        </p:nvSpPr>
        <p:spPr>
          <a:xfrm>
            <a:off x="245533" y="2817435"/>
            <a:ext cx="11519504" cy="2270956"/>
          </a:xfrm>
        </p:spPr>
        <p:txBody>
          <a:bodyPr vert="horz" lIns="91440" tIns="45720" rIns="91440" bIns="45720" rtlCol="0" anchor="t">
            <a:normAutofit/>
          </a:bodyPr>
          <a:lstStyle/>
          <a:p>
            <a:pPr marL="0" indent="0">
              <a:buNone/>
            </a:pPr>
            <a:r>
              <a:rPr lang="en-US" b="1">
                <a:latin typeface="Times New Roman"/>
                <a:cs typeface="Times New Roman"/>
              </a:rPr>
              <a:t>Probability Prediction</a:t>
            </a:r>
          </a:p>
          <a:p>
            <a:pPr marL="0" indent="0">
              <a:buNone/>
            </a:pPr>
            <a:r>
              <a:rPr lang="en-US" sz="2000">
                <a:latin typeface="Times New Roman"/>
                <a:cs typeface="Times New Roman"/>
              </a:rPr>
              <a:t>We created a dummy observation with some selected values in the 3 predictors of our best model. We set this small data set on top of the old one, and then ran a logistic regression, but output the phat values into a separate data set.</a:t>
            </a:r>
          </a:p>
          <a:p>
            <a:pPr marL="0" indent="0">
              <a:buNone/>
            </a:pPr>
            <a:r>
              <a:rPr lang="en-US" sz="2000">
                <a:latin typeface="Times New Roman"/>
                <a:cs typeface="Times New Roman"/>
              </a:rPr>
              <a:t>We went to that data set to find this observations likelihood, and we see that they have an 84.352% chance of being a human</a:t>
            </a:r>
            <a:endParaRPr lang="en-US" sz="2000"/>
          </a:p>
        </p:txBody>
      </p:sp>
      <p:pic>
        <p:nvPicPr>
          <p:cNvPr id="5" name="Content Placeholder 4" descr="A close-up of a math problem&#10;&#10;AI-generated content may be incorrect.">
            <a:extLst>
              <a:ext uri="{FF2B5EF4-FFF2-40B4-BE49-F238E27FC236}">
                <a16:creationId xmlns:a16="http://schemas.microsoft.com/office/drawing/2014/main" id="{C60977B0-0D64-11BE-FA4D-E109B31351BC}"/>
              </a:ext>
            </a:extLst>
          </p:cNvPr>
          <p:cNvPicPr>
            <a:picLocks noGrp="1" noChangeAspect="1"/>
          </p:cNvPicPr>
          <p:nvPr>
            <p:ph sz="half" idx="2"/>
          </p:nvPr>
        </p:nvPicPr>
        <p:blipFill>
          <a:blip r:embed="rId2"/>
          <a:stretch>
            <a:fillRect/>
          </a:stretch>
        </p:blipFill>
        <p:spPr>
          <a:xfrm>
            <a:off x="425827" y="1479589"/>
            <a:ext cx="3006725" cy="1124555"/>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B24AFDF8-11BD-3220-0157-0BA317E5E418}"/>
              </a:ext>
            </a:extLst>
          </p:cNvPr>
          <p:cNvPicPr>
            <a:picLocks noChangeAspect="1"/>
          </p:cNvPicPr>
          <p:nvPr/>
        </p:nvPicPr>
        <p:blipFill>
          <a:blip r:embed="rId3"/>
          <a:stretch>
            <a:fillRect/>
          </a:stretch>
        </p:blipFill>
        <p:spPr>
          <a:xfrm>
            <a:off x="0" y="5056394"/>
            <a:ext cx="12192000" cy="881783"/>
          </a:xfrm>
          <a:prstGeom prst="rect">
            <a:avLst/>
          </a:prstGeom>
        </p:spPr>
      </p:pic>
      <p:pic>
        <p:nvPicPr>
          <p:cNvPr id="7" name="Picture 6" descr="A close-up of a white background&#10;&#10;AI-generated content may be incorrect.">
            <a:extLst>
              <a:ext uri="{FF2B5EF4-FFF2-40B4-BE49-F238E27FC236}">
                <a16:creationId xmlns:a16="http://schemas.microsoft.com/office/drawing/2014/main" id="{8A7AABF0-30A7-B9EC-1CB5-52209CCCEC49}"/>
              </a:ext>
            </a:extLst>
          </p:cNvPr>
          <p:cNvPicPr>
            <a:picLocks noChangeAspect="1"/>
          </p:cNvPicPr>
          <p:nvPr/>
        </p:nvPicPr>
        <p:blipFill>
          <a:blip r:embed="rId4"/>
          <a:stretch>
            <a:fillRect/>
          </a:stretch>
        </p:blipFill>
        <p:spPr>
          <a:xfrm>
            <a:off x="3695700" y="1591885"/>
            <a:ext cx="8102600" cy="916517"/>
          </a:xfrm>
          <a:prstGeom prst="rect">
            <a:avLst/>
          </a:prstGeom>
        </p:spPr>
      </p:pic>
    </p:spTree>
    <p:extLst>
      <p:ext uri="{BB962C8B-B14F-4D97-AF65-F5344CB8AC3E}">
        <p14:creationId xmlns:p14="http://schemas.microsoft.com/office/powerpoint/2010/main" val="4026516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C6F95-6D8A-9F26-8165-AB0CB0D2A6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A67ECE-7E6A-0A43-0792-D04B71B741DF}"/>
              </a:ext>
            </a:extLst>
          </p:cNvPr>
          <p:cNvSpPr>
            <a:spLocks noGrp="1"/>
          </p:cNvSpPr>
          <p:nvPr>
            <p:ph type="title"/>
          </p:nvPr>
        </p:nvSpPr>
        <p:spPr>
          <a:xfrm>
            <a:off x="838200" y="407773"/>
            <a:ext cx="2980267" cy="1011066"/>
          </a:xfrm>
        </p:spPr>
        <p:txBody>
          <a:bodyPr>
            <a:normAutofit fontScale="90000"/>
          </a:bodyPr>
          <a:lstStyle/>
          <a:p>
            <a:r>
              <a:rPr lang="en-US"/>
              <a:t>Model Fitting and Analysis</a:t>
            </a:r>
          </a:p>
        </p:txBody>
      </p:sp>
      <p:sp>
        <p:nvSpPr>
          <p:cNvPr id="3" name="Content Placeholder 2">
            <a:extLst>
              <a:ext uri="{FF2B5EF4-FFF2-40B4-BE49-F238E27FC236}">
                <a16:creationId xmlns:a16="http://schemas.microsoft.com/office/drawing/2014/main" id="{49DEE388-D2BC-0201-4CE5-BBEEC8E08D08}"/>
              </a:ext>
            </a:extLst>
          </p:cNvPr>
          <p:cNvSpPr>
            <a:spLocks noGrp="1"/>
          </p:cNvSpPr>
          <p:nvPr>
            <p:ph idx="1"/>
          </p:nvPr>
        </p:nvSpPr>
        <p:spPr>
          <a:xfrm>
            <a:off x="656772" y="1781140"/>
            <a:ext cx="3173791" cy="4332668"/>
          </a:xfrm>
        </p:spPr>
        <p:txBody>
          <a:bodyPr vert="horz" lIns="91440" tIns="45720" rIns="91440" bIns="45720" rtlCol="0" anchor="t">
            <a:normAutofit fontScale="92500" lnSpcReduction="10000"/>
          </a:bodyPr>
          <a:lstStyle/>
          <a:p>
            <a:pPr marL="0" indent="0">
              <a:buNone/>
            </a:pPr>
            <a:r>
              <a:rPr lang="en-US" b="1">
                <a:latin typeface="Times New Roman"/>
                <a:cs typeface="Times New Roman"/>
              </a:rPr>
              <a:t>ROC Curve</a:t>
            </a:r>
          </a:p>
          <a:p>
            <a:pPr marL="0" indent="0">
              <a:buNone/>
            </a:pPr>
            <a:r>
              <a:rPr lang="en-US" sz="2000">
                <a:latin typeface="Times New Roman"/>
                <a:cs typeface="Times New Roman"/>
              </a:rPr>
              <a:t>To get more insight into how effective our model is, we created two ROC curves. The first one included all the predictors in our best model, and the second one included a random set of three.</a:t>
            </a:r>
          </a:p>
          <a:p>
            <a:pPr marL="0" indent="0">
              <a:buNone/>
            </a:pPr>
            <a:r>
              <a:rPr lang="en-US" sz="2000">
                <a:latin typeface="Times New Roman"/>
                <a:cs typeface="Times New Roman"/>
              </a:rPr>
              <a:t>We can see that the best models ROC curve has an area of 0.8428, while the other only has 0.6663. This difference represents the fact that our model is more effective at predicting whether the writer is human or ai</a:t>
            </a:r>
          </a:p>
        </p:txBody>
      </p:sp>
      <p:pic>
        <p:nvPicPr>
          <p:cNvPr id="7" name="Picture 6">
            <a:extLst>
              <a:ext uri="{FF2B5EF4-FFF2-40B4-BE49-F238E27FC236}">
                <a16:creationId xmlns:a16="http://schemas.microsoft.com/office/drawing/2014/main" id="{D6F183FA-9F2A-FC60-8B44-06BCA45073E4}"/>
              </a:ext>
            </a:extLst>
          </p:cNvPr>
          <p:cNvPicPr>
            <a:picLocks noChangeAspect="1"/>
          </p:cNvPicPr>
          <p:nvPr/>
        </p:nvPicPr>
        <p:blipFill>
          <a:blip r:embed="rId2"/>
          <a:stretch>
            <a:fillRect/>
          </a:stretch>
        </p:blipFill>
        <p:spPr>
          <a:xfrm>
            <a:off x="4104408" y="2204960"/>
            <a:ext cx="3622902" cy="3514605"/>
          </a:xfrm>
          <a:prstGeom prst="rect">
            <a:avLst/>
          </a:prstGeom>
        </p:spPr>
      </p:pic>
      <p:pic>
        <p:nvPicPr>
          <p:cNvPr id="4" name="Picture 3" descr="A text on a white background&#10;&#10;AI-generated content may be incorrect.">
            <a:extLst>
              <a:ext uri="{FF2B5EF4-FFF2-40B4-BE49-F238E27FC236}">
                <a16:creationId xmlns:a16="http://schemas.microsoft.com/office/drawing/2014/main" id="{F351C137-8AAE-046B-61F7-72774691F4E0}"/>
              </a:ext>
            </a:extLst>
          </p:cNvPr>
          <p:cNvPicPr>
            <a:picLocks noChangeAspect="1"/>
          </p:cNvPicPr>
          <p:nvPr/>
        </p:nvPicPr>
        <p:blipFill>
          <a:blip r:embed="rId3"/>
          <a:stretch>
            <a:fillRect/>
          </a:stretch>
        </p:blipFill>
        <p:spPr>
          <a:xfrm>
            <a:off x="3828747" y="179916"/>
            <a:ext cx="7195458" cy="1599597"/>
          </a:xfrm>
          <a:prstGeom prst="rect">
            <a:avLst/>
          </a:prstGeom>
        </p:spPr>
      </p:pic>
      <p:pic>
        <p:nvPicPr>
          <p:cNvPr id="6" name="Picture 5" descr="A graph with a line&#10;&#10;AI-generated content may be incorrect.">
            <a:extLst>
              <a:ext uri="{FF2B5EF4-FFF2-40B4-BE49-F238E27FC236}">
                <a16:creationId xmlns:a16="http://schemas.microsoft.com/office/drawing/2014/main" id="{80F5D06A-3DB1-08C2-2887-A652B2A579DF}"/>
              </a:ext>
            </a:extLst>
          </p:cNvPr>
          <p:cNvPicPr>
            <a:picLocks noChangeAspect="1"/>
          </p:cNvPicPr>
          <p:nvPr/>
        </p:nvPicPr>
        <p:blipFill>
          <a:blip r:embed="rId4"/>
          <a:stretch>
            <a:fillRect/>
          </a:stretch>
        </p:blipFill>
        <p:spPr>
          <a:xfrm>
            <a:off x="8057066" y="2104570"/>
            <a:ext cx="3576914" cy="3725335"/>
          </a:xfrm>
          <a:prstGeom prst="rect">
            <a:avLst/>
          </a:prstGeom>
        </p:spPr>
      </p:pic>
    </p:spTree>
    <p:extLst>
      <p:ext uri="{BB962C8B-B14F-4D97-AF65-F5344CB8AC3E}">
        <p14:creationId xmlns:p14="http://schemas.microsoft.com/office/powerpoint/2010/main" val="37963867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87AAC-3F01-1602-4B59-2D76EB550667}"/>
              </a:ext>
            </a:extLst>
          </p:cNvPr>
          <p:cNvSpPr>
            <a:spLocks noGrp="1"/>
          </p:cNvSpPr>
          <p:nvPr>
            <p:ph type="title"/>
          </p:nvPr>
        </p:nvSpPr>
        <p:spPr/>
        <p:txBody>
          <a:bodyPr/>
          <a:lstStyle/>
          <a:p>
            <a:r>
              <a:rPr lang="en-US"/>
              <a:t>Conclusion</a:t>
            </a:r>
          </a:p>
        </p:txBody>
      </p:sp>
      <p:sp>
        <p:nvSpPr>
          <p:cNvPr id="3" name="Content Placeholder 2">
            <a:extLst>
              <a:ext uri="{FF2B5EF4-FFF2-40B4-BE49-F238E27FC236}">
                <a16:creationId xmlns:a16="http://schemas.microsoft.com/office/drawing/2014/main" id="{60718F03-C96B-2E8C-4D5E-044342D822B8}"/>
              </a:ext>
            </a:extLst>
          </p:cNvPr>
          <p:cNvSpPr>
            <a:spLocks noGrp="1"/>
          </p:cNvSpPr>
          <p:nvPr>
            <p:ph idx="1"/>
          </p:nvPr>
        </p:nvSpPr>
        <p:spPr>
          <a:xfrm>
            <a:off x="838200" y="1717590"/>
            <a:ext cx="10515600" cy="4719714"/>
          </a:xfrm>
        </p:spPr>
        <p:txBody>
          <a:bodyPr vert="horz" lIns="91440" tIns="45720" rIns="91440" bIns="45720" rtlCol="0" anchor="t">
            <a:normAutofit/>
          </a:bodyPr>
          <a:lstStyle/>
          <a:p>
            <a:pPr marL="0" indent="0">
              <a:buNone/>
            </a:pPr>
            <a:r>
              <a:rPr lang="en-US">
                <a:latin typeface="Times New Roman"/>
                <a:cs typeface="Times New Roman"/>
              </a:rPr>
              <a:t> </a:t>
            </a:r>
            <a:r>
              <a:rPr lang="en-US" sz="2400">
                <a:latin typeface="Times New Roman"/>
                <a:cs typeface="Times New Roman"/>
              </a:rPr>
              <a:t>AI writing is not hard to come by nowadays, so it's useful to have some tools to determine exactly who wrote some text. We found that there are some factors that are useful for predicting if a human wrote some text. The length of words, the quality of the text, and the level of plagiarism are all effective predictors. </a:t>
            </a:r>
          </a:p>
          <a:p>
            <a:pPr marL="0" indent="0">
              <a:buNone/>
            </a:pPr>
            <a:r>
              <a:rPr lang="en-US" sz="2400">
                <a:latin typeface="Times New Roman"/>
                <a:cs typeface="Times New Roman"/>
              </a:rPr>
              <a:t> It appears that the lengthier excerpts have slightly higher odds of being a human, while high quality strings of text have a slightly higher odds of being an ai. Interestingly, it seems that even having small amounts of plagiarism greatly increases the odds of being a human.</a:t>
            </a:r>
          </a:p>
          <a:p>
            <a:pPr marL="0" indent="0">
              <a:buNone/>
            </a:pPr>
            <a:r>
              <a:rPr lang="en-US" sz="2400">
                <a:latin typeface="Times New Roman"/>
                <a:cs typeface="Times New Roman"/>
              </a:rPr>
              <a:t> While it is unlikely that we will escape the grasp AI has on modern society, we should ensure that we take the steps to preserve human work and writing. Models like these can help prevent people from trying to pass of AI work as human work.</a:t>
            </a:r>
          </a:p>
          <a:p>
            <a:pPr marL="0" indent="0">
              <a:buNone/>
            </a:pPr>
            <a:r>
              <a:rPr lang="en-US" sz="2400">
                <a:latin typeface="Times New Roman"/>
                <a:cs typeface="Times New Roman"/>
              </a:rPr>
              <a:t> </a:t>
            </a:r>
          </a:p>
        </p:txBody>
      </p:sp>
    </p:spTree>
    <p:extLst>
      <p:ext uri="{BB962C8B-B14F-4D97-AF65-F5344CB8AC3E}">
        <p14:creationId xmlns:p14="http://schemas.microsoft.com/office/powerpoint/2010/main" val="10568510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BF4E7-C5DC-1370-71F8-37EF6D8EC1EC}"/>
              </a:ext>
            </a:extLst>
          </p:cNvPr>
          <p:cNvSpPr>
            <a:spLocks noGrp="1"/>
          </p:cNvSpPr>
          <p:nvPr>
            <p:ph type="title"/>
          </p:nvPr>
        </p:nvSpPr>
        <p:spPr/>
        <p:txBody>
          <a:bodyPr/>
          <a:lstStyle/>
          <a:p>
            <a:r>
              <a:rPr lang="en-US">
                <a:ea typeface="Open Sans SemiBold"/>
                <a:cs typeface="Times New Roman"/>
              </a:rPr>
              <a:t>Certification + Works Cited</a:t>
            </a:r>
            <a:endParaRPr lang="en-US"/>
          </a:p>
        </p:txBody>
      </p:sp>
      <p:sp>
        <p:nvSpPr>
          <p:cNvPr id="3" name="Content Placeholder 2">
            <a:extLst>
              <a:ext uri="{FF2B5EF4-FFF2-40B4-BE49-F238E27FC236}">
                <a16:creationId xmlns:a16="http://schemas.microsoft.com/office/drawing/2014/main" id="{193AD36E-B401-07A9-8F79-299C26BA2757}"/>
              </a:ext>
            </a:extLst>
          </p:cNvPr>
          <p:cNvSpPr>
            <a:spLocks noGrp="1"/>
          </p:cNvSpPr>
          <p:nvPr>
            <p:ph idx="1"/>
          </p:nvPr>
        </p:nvSpPr>
        <p:spPr/>
        <p:txBody>
          <a:bodyPr vert="horz" lIns="91440" tIns="45720" rIns="91440" bIns="45720" rtlCol="0" anchor="t">
            <a:normAutofit/>
          </a:bodyPr>
          <a:lstStyle/>
          <a:p>
            <a:r>
              <a:rPr lang="en-US">
                <a:latin typeface="Times New Roman"/>
                <a:cs typeface="Times New Roman"/>
                <a:hlinkClick r:id="rId2"/>
              </a:rPr>
              <a:t>https://www.kaggle.com/datasets/prince7489/ai-vs-human-comparison-dataset?resource=download</a:t>
            </a:r>
            <a:endParaRPr lang="en-US"/>
          </a:p>
          <a:p>
            <a:endParaRPr lang="en-US"/>
          </a:p>
          <a:p>
            <a:r>
              <a:rPr lang="en-US">
                <a:latin typeface="Times New Roman"/>
                <a:cs typeface="Times New Roman"/>
              </a:rPr>
              <a:t>We certify that this presentation was completed by all members of the group</a:t>
            </a:r>
          </a:p>
          <a:p>
            <a:pPr marL="0" indent="0">
              <a:buNone/>
            </a:pPr>
            <a:r>
              <a:rPr lang="en-US">
                <a:latin typeface="Times New Roman"/>
                <a:cs typeface="Times New Roman"/>
              </a:rPr>
              <a:t>- Aidan Belmont, Michelle Steinberger, Allison Kreuger, Jill </a:t>
            </a:r>
            <a:r>
              <a:rPr lang="en-US" err="1">
                <a:latin typeface="Times New Roman"/>
                <a:cs typeface="Times New Roman"/>
              </a:rPr>
              <a:t>Derodel</a:t>
            </a:r>
            <a:r>
              <a:rPr lang="en-US">
                <a:latin typeface="Times New Roman"/>
                <a:cs typeface="Times New Roman"/>
              </a:rPr>
              <a:t> </a:t>
            </a:r>
          </a:p>
        </p:txBody>
      </p:sp>
    </p:spTree>
    <p:extLst>
      <p:ext uri="{BB962C8B-B14F-4D97-AF65-F5344CB8AC3E}">
        <p14:creationId xmlns:p14="http://schemas.microsoft.com/office/powerpoint/2010/main" val="343563729"/>
      </p:ext>
    </p:extLst>
  </p:cSld>
  <p:clrMapOvr>
    <a:masterClrMapping/>
  </p:clrMapOvr>
</p:sld>
</file>

<file path=ppt/theme/theme1.xml><?xml version="1.0" encoding="utf-8"?>
<a:theme xmlns:a="http://schemas.openxmlformats.org/drawingml/2006/main" name="FSU_Creative_Theme">
  <a:themeElements>
    <a:clrScheme name="FSU">
      <a:dk1>
        <a:srgbClr val="000000"/>
      </a:dk1>
      <a:lt1>
        <a:srgbClr val="FFFFFF"/>
      </a:lt1>
      <a:dk2>
        <a:srgbClr val="782F40"/>
      </a:dk2>
      <a:lt2>
        <a:srgbClr val="E7E6E6"/>
      </a:lt2>
      <a:accent1>
        <a:srgbClr val="782F40"/>
      </a:accent1>
      <a:accent2>
        <a:srgbClr val="CEB888"/>
      </a:accent2>
      <a:accent3>
        <a:srgbClr val="415563"/>
      </a:accent3>
      <a:accent4>
        <a:srgbClr val="5BB8B2"/>
      </a:accent4>
      <a:accent5>
        <a:srgbClr val="FFC72C"/>
      </a:accent5>
      <a:accent6>
        <a:srgbClr val="A6192E"/>
      </a:accent6>
      <a:hlink>
        <a:srgbClr val="782F40"/>
      </a:hlink>
      <a:folHlink>
        <a:srgbClr val="000000"/>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SU_Presentation_Institutional_White" id="{84FCCFD1-B201-F942-91C2-CAD460CE67FF}" vid="{1059FDFA-A5A1-7C49-871D-843CF72958D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4BC055646C9834786D5D1D07B672473" ma:contentTypeVersion="4" ma:contentTypeDescription="Create a new document." ma:contentTypeScope="" ma:versionID="522017b4c5402070f2e0eabba8dc28f6">
  <xsd:schema xmlns:xsd="http://www.w3.org/2001/XMLSchema" xmlns:xs="http://www.w3.org/2001/XMLSchema" xmlns:p="http://schemas.microsoft.com/office/2006/metadata/properties" xmlns:ns2="b79a929a-3d7c-4dba-8a00-4b3dbe931dd1" targetNamespace="http://schemas.microsoft.com/office/2006/metadata/properties" ma:root="true" ma:fieldsID="519d4e80918d33f5ff7fbfe56aa091a4" ns2:_="">
    <xsd:import namespace="b79a929a-3d7c-4dba-8a00-4b3dbe931dd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79a929a-3d7c-4dba-8a00-4b3dbe931dd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5A9D3B2-F1B2-4F10-9B1E-FED6ECE52732}">
  <ds:schemaRefs>
    <ds:schemaRef ds:uri="b79a929a-3d7c-4dba-8a00-4b3dbe931dd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2204565-10E1-452E-BF5D-59B9F5ACBCDE}">
  <ds:schemaRefs>
    <ds:schemaRef ds:uri="http://schemas.microsoft.com/office/2006/documentManagement/types"/>
    <ds:schemaRef ds:uri="b79a929a-3d7c-4dba-8a00-4b3dbe931dd1"/>
    <ds:schemaRef ds:uri="http://purl.org/dc/elements/1.1/"/>
    <ds:schemaRef ds:uri="http://schemas.microsoft.com/office/infopath/2007/PartnerControls"/>
    <ds:schemaRef ds:uri="http://www.w3.org/XML/1998/namespace"/>
    <ds:schemaRef ds:uri="http://schemas.microsoft.com/office/2006/metadata/properties"/>
    <ds:schemaRef ds:uri="http://schemas.openxmlformats.org/package/2006/metadata/core-properties"/>
    <ds:schemaRef ds:uri="http://purl.org/dc/dcmitype/"/>
    <ds:schemaRef ds:uri="http://purl.org/dc/terms/"/>
  </ds:schemaRefs>
</ds:datastoreItem>
</file>

<file path=customXml/itemProps3.xml><?xml version="1.0" encoding="utf-8"?>
<ds:datastoreItem xmlns:ds="http://schemas.openxmlformats.org/officeDocument/2006/customXml" ds:itemID="{7ADBD96C-B3D5-45E9-8089-4C96B1EAE9F8}">
  <ds:schemaRefs>
    <ds:schemaRef ds:uri="http://schemas.microsoft.com/sharepoint/v3/contenttype/forms"/>
  </ds:schemaRefs>
</ds:datastoreItem>
</file>

<file path=docMetadata/LabelInfo.xml><?xml version="1.0" encoding="utf-8"?>
<clbl:labelList xmlns:clbl="http://schemas.microsoft.com/office/2020/mipLabelMetadata">
  <clbl:label id="{a36450eb-db06-42a7-8d1b-026719f701e3}" enabled="0" method="" siteId="{a36450eb-db06-42a7-8d1b-026719f701e3}" removed="1"/>
</clbl:labelList>
</file>

<file path=docProps/app.xml><?xml version="1.0" encoding="utf-8"?>
<Properties xmlns="http://schemas.openxmlformats.org/officeDocument/2006/extended-properties" xmlns:vt="http://schemas.openxmlformats.org/officeDocument/2006/docPropsVTypes">
  <Template>FSU_Creative_Theme</Template>
  <TotalTime>0</TotalTime>
  <Words>1025</Words>
  <Application>Microsoft Office PowerPoint</Application>
  <PresentationFormat>Widescreen</PresentationFormat>
  <Paragraphs>60</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Open Sans</vt:lpstr>
      <vt:lpstr>Open Sans SemiBold</vt:lpstr>
      <vt:lpstr>Times New Roman</vt:lpstr>
      <vt:lpstr>FSU_Creative_Theme</vt:lpstr>
      <vt:lpstr>Project C:  AI vs. Human Writing Comparison</vt:lpstr>
      <vt:lpstr>Motivation</vt:lpstr>
      <vt:lpstr>Data Description</vt:lpstr>
      <vt:lpstr>Data Exploration</vt:lpstr>
      <vt:lpstr>Model Fitting and Analysis</vt:lpstr>
      <vt:lpstr>Model Fitting and Analysis</vt:lpstr>
      <vt:lpstr>Model Fitting and Analysis - Multivariate</vt:lpstr>
      <vt:lpstr>Model Fitting and Analysis</vt:lpstr>
      <vt:lpstr>Model Fitting and Analysis</vt:lpstr>
      <vt:lpstr>Model Fitting and Analysis </vt:lpstr>
      <vt:lpstr>Model Fitting and Analysis</vt:lpstr>
      <vt:lpstr>Model Fitting and Analysis</vt:lpstr>
      <vt:lpstr>Conclusion</vt:lpstr>
      <vt:lpstr>Certification + Works Cited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Michelle Steinberger</dc:creator>
  <cp:lastModifiedBy>Jillian Derodel</cp:lastModifiedBy>
  <cp:revision>2</cp:revision>
  <dcterms:created xsi:type="dcterms:W3CDTF">2025-12-03T17:40:49Z</dcterms:created>
  <dcterms:modified xsi:type="dcterms:W3CDTF">2025-12-23T15:43:25Z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0x010100E4BC055646C9834786D5D1D07B672473</vt:lpwstr>
  </property>
</Properties>
</file>